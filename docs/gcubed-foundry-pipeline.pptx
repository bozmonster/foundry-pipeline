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2708ec0-9b58-c840-662b-ed298364d2fa}">
          <p14:sldIdLst>
            <p14:sldId id="256"/>
            <p14:sldId id="257"/>
          </p14:sldIdLst>
        </p14:section>
        <p14:section name="Architecture" id="{f24d519a-eda1-893d-da28-cc93ccfbe84f}">
          <p14:sldIdLst>
            <p14:sldId id="258"/>
            <p14:sldId id="259"/>
            <p14:sldId id="260"/>
            <p14:sldId id="261"/>
            <p14:sldId id="262"/>
          </p14:sldIdLst>
        </p14:section>
        <p14:section name="Components" id="{4090a1ba-6682-d8ed-f5f4-40d78be008c6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Pipeline" id="{64cf8034-84ba-a12c-c1f4-8accc5c6c223}">
          <p14:sldIdLst>
            <p14:sldId id="271"/>
            <p14:sldId id="272"/>
          </p14:sldIdLst>
        </p14:section>
        <p14:section name="API" id="{5206d94a-d4ea-8f01-d897-76133103f52d}">
          <p14:sldIdLst>
            <p14:sldId id="273"/>
            <p14:sldId id="274"/>
            <p14:sldId id="275"/>
            <p14:sldId id="276"/>
            <p14:sldId id="277"/>
          </p14:sldIdLst>
        </p14:section>
        <p14:section name="Operations" id="{bb54e35c-faac-b2b3-4578-095994441112}">
          <p14:sldIdLst>
            <p14:sldId id="278"/>
            <p14:sldId id="279"/>
          </p14:sldIdLst>
        </p14:section>
        <p14:section name="Improvements" id="{93f3b08f-671b-b2e4-5951-89b33df5bd2e}">
          <p14:sldIdLst>
            <p14:sldId id="280"/>
            <p14:sldId id="281"/>
            <p14:sldId id="282"/>
          </p14:sldIdLst>
        </p14:section>
        <p14:section name="Next steps" id="{bc90e839-dd6c-704b-88b4-b8f311cab28c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A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A35"/>
                </a:solidFill>
                <a:latin typeface="+mn-lt"/>
              </a:rPr>
              <a:t>USA consumer price inflation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4A5F66"/>
            </a:solidFill>
            <a:ln w="38100" cap="flat">
              <a:solidFill>
                <a:srgbClr val="4A5F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A5F66"/>
              </a:solidFill>
              <a:ln w="9525" cap="flat">
                <a:solidFill>
                  <a:srgbClr val="4A5F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3.728</c:v>
                </c:pt>
                <c:pt idx="1">
                  <c:v>2.603</c:v>
                </c:pt>
                <c:pt idx="2">
                  <c:v>2.903</c:v>
                </c:pt>
                <c:pt idx="3">
                  <c:v>3.4</c:v>
                </c:pt>
                <c:pt idx="4">
                  <c:v>3.727</c:v>
                </c:pt>
                <c:pt idx="5">
                  <c:v>3.885</c:v>
                </c:pt>
                <c:pt idx="6">
                  <c:v>3.948</c:v>
                </c:pt>
                <c:pt idx="7">
                  <c:v>3.974</c:v>
                </c:pt>
                <c:pt idx="8">
                  <c:v>3.976</c:v>
                </c:pt>
                <c:pt idx="9">
                  <c:v>3.974</c:v>
                </c:pt>
                <c:pt idx="10">
                  <c:v>3.972</c:v>
                </c:pt>
                <c:pt idx="11">
                  <c:v>3.971</c:v>
                </c:pt>
                <c:pt idx="12">
                  <c:v>3.97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+1pp target</c:v>
                </c:pt>
              </c:strCache>
            </c:strRef>
          </c:tx>
          <c:spPr>
            <a:solidFill>
              <a:srgbClr val="E89B2D"/>
            </a:solidFill>
            <a:ln w="38100" cap="flat">
              <a:solidFill>
                <a:srgbClr val="E89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9B2D"/>
              </a:solidFill>
              <a:ln w="9525" cap="flat">
                <a:solidFill>
                  <a:srgbClr val="E89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3.728</c:v>
                </c:pt>
                <c:pt idx="1">
                  <c:v>3.629</c:v>
                </c:pt>
                <c:pt idx="2">
                  <c:v>4.137</c:v>
                </c:pt>
                <c:pt idx="3">
                  <c:v>4.584</c:v>
                </c:pt>
                <c:pt idx="4">
                  <c:v>4.832</c:v>
                </c:pt>
                <c:pt idx="5">
                  <c:v>4.937</c:v>
                </c:pt>
                <c:pt idx="6">
                  <c:v>4.973</c:v>
                </c:pt>
                <c:pt idx="7">
                  <c:v>4.986</c:v>
                </c:pt>
                <c:pt idx="8">
                  <c:v>4.984</c:v>
                </c:pt>
                <c:pt idx="9">
                  <c:v>4.979</c:v>
                </c:pt>
                <c:pt idx="10">
                  <c:v>4.976</c:v>
                </c:pt>
                <c:pt idx="11">
                  <c:v>4.974</c:v>
                </c:pt>
                <c:pt idx="12">
                  <c:v>4.973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F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2"/>
        </c:scaling>
        <c:delete val="0"/>
        <c:axPos val="l"/>
        <c:majorGridlines>
          <c:spPr>
            <a:ln w="9525" cap="flat">
              <a:solidFill>
                <a:srgbClr val="C9D8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F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E2A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of concept. G-Cubed 2R build 199 runs as a Microsoft Foundry hosted agent, deployed by GitHub Actions from Bozmonster/foundry-pipeline.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source repos feed one GitHub Actions workflow. The workflow provisions Azure with Bicep, pushes the image to ACR, and registers a new hosted-agent version in the Foundry project. Callers reach the model through the Foundry project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push to main repeats this sequence. Steps 1-3 happen on GitHub's runner without touching Azure; a broken model or API fails at step 3. Steps 4-9 use the managed identity via OIDC, so there are no stored secrets. The whole sequence takes about 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Foundry is the front door: it authenticates the caller, routes to a per-session sandbox running our container, and scales to zero when idle. The container keeps the solved G-Cubed model in memory, so each run takes about 0.4-1 s of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Endpoint: POST https://&lt;foundry&gt;.services.ai.azure.com/api/projects/gcubed-project/agents/gcubed-model/endpoint/protocols/invocations?api-version=v1 with an Entra bearer token for https://ai.azure.com. Callers need the Azure AI User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gcubed package is licensed 'All rights reserved'. This pipeline downloads it at build time from the publisher's public repo and doesn't redistribute it; the image stays in a private ACR.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7FB3B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66"/>
                </a:solidFill>
              </a:rPr>
              <a:t>G-Cubed on Microsoft Foundry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G-Cubed on Microsoft Foundry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7FB3B3"/>
                </a:solidFill>
              </a:rPr>
              <a:t>A GitHub Actions pipeline that builds the G-Cubed model into a container, deploys it to Foundry, and serves it as an API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258214"/>
            <a:ext cx="409651" cy="4096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this proves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2596896" cy="3566160"/>
          </a:xfrm>
          <a:prstGeom prst="roundRect">
            <a:avLst>
              <a:gd name="adj" fmla="val 4225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9696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3m 26s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from git push to a verified API on Foundry (Actions run #4, first full deploy)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364992" y="1554480"/>
            <a:ext cx="2596896" cy="3566160"/>
          </a:xfrm>
          <a:prstGeom prst="roundRect">
            <a:avLst>
              <a:gd name="adj" fmla="val 4225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39312" y="182880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130" y="19696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0.35s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of G-Cubed compute per API call, measured on the deployed agent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181344" y="1554480"/>
            <a:ext cx="2596896" cy="3566160"/>
          </a:xfrm>
          <a:prstGeom prst="roundRect">
            <a:avLst>
              <a:gd name="adj" fmla="val 4225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55664" y="182880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82" y="196961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match between Foundry results and a local run of the same model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8997696" y="1554480"/>
            <a:ext cx="2596896" cy="3566160"/>
          </a:xfrm>
          <a:prstGeom prst="roundRect">
            <a:avLst>
              <a:gd name="adj" fmla="val 4225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72016" y="182880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834" y="196961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</a:t>
            </a:r>
            <a:endParaRPr lang="en-US" sz="36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compute while idle. Foundry releases hosted-agent compute after 15 min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5F66"/>
                </a:solidFill>
              </a:rPr>
              <a:t>Model: G-Cubed 2R (2 sectors, 2 symmetric regions: USA and Rest of World), build 199, gcubed Python 5.0.1.4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 at a glance</a:t>
            </a:r>
            <a:endParaRPr lang="en-US" sz="3200" dirty="0"/>
          </a:p>
        </p:txBody>
      </p:sp>
      <p:sp>
        <p:nvSpPr>
          <p:cNvPr id="3" name="Model fork (public)"/>
          <p:cNvSpPr/>
          <p:nvPr/>
        </p:nvSpPr>
        <p:spPr>
          <a:xfrm>
            <a:off x="548640" y="146304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Model fork (public)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Bozmonster/gcubed.com-model-2R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model 2R/199 data + SYM</a:t>
            </a:r>
            <a:endParaRPr lang="en-US" sz="1200" dirty="0"/>
          </a:p>
        </p:txBody>
      </p:sp>
      <p:sp>
        <p:nvSpPr>
          <p:cNvPr id="6" name="gcubed wheel"/>
          <p:cNvSpPr/>
          <p:nvPr/>
        </p:nvSpPr>
        <p:spPr>
          <a:xfrm>
            <a:off x="548640" y="26974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gcubed wheel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72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McKibbin-Software-Group/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gcubed-public-prerequisites</a:t>
            </a:r>
            <a:endParaRPr lang="en-US" sz="1200" dirty="0"/>
          </a:p>
        </p:txBody>
      </p:sp>
      <p:sp>
        <p:nvSpPr>
          <p:cNvPr id="9" name="Pipeline repo"/>
          <p:cNvSpPr/>
          <p:nvPr/>
        </p:nvSpPr>
        <p:spPr>
          <a:xfrm>
            <a:off x="548640" y="393192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041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Pipeline repo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407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Bozmonster/foundry-pipeline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API, Dockerfile, Bicep, workflow</a:t>
            </a:r>
            <a:endParaRPr lang="en-US" sz="1200" dirty="0"/>
          </a:p>
        </p:txBody>
      </p:sp>
      <p:sp>
        <p:nvSpPr>
          <p:cNvPr id="12" name="GitHub Actions"/>
          <p:cNvSpPr/>
          <p:nvPr/>
        </p:nvSpPr>
        <p:spPr>
          <a:xfrm>
            <a:off x="3840480" y="210312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2212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 Actions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578608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build image + solve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test container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Bicep (infra)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4. push to ACR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5. create agent 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6. smoke-test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011680"/>
            <a:ext cx="640080" cy="640080"/>
          </a:xfrm>
          <a:prstGeom prst="line">
            <a:avLst/>
          </a:prstGeom>
          <a:noFill/>
          <a:ln w="25400">
            <a:solidFill>
              <a:srgbClr val="4A5F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0" y="3200400"/>
            <a:ext cx="640080" cy="914"/>
          </a:xfrm>
          <a:prstGeom prst="line">
            <a:avLst/>
          </a:prstGeom>
          <a:noFill/>
          <a:ln w="25400">
            <a:solidFill>
              <a:srgbClr val="4A5F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3200400" y="3749040"/>
            <a:ext cx="640080" cy="685800"/>
          </a:xfrm>
          <a:prstGeom prst="line">
            <a:avLst/>
          </a:prstGeom>
          <a:noFill/>
          <a:ln w="25400">
            <a:solidFill>
              <a:srgbClr val="4A5F66"/>
            </a:solidFill>
            <a:prstDash val="solid"/>
            <a:tailEnd type="triangle"/>
          </a:ln>
        </p:spPr>
      </p:sp>
      <p:sp>
        <p:nvSpPr>
          <p:cNvPr id="18" name="azure-boundary"/>
          <p:cNvSpPr/>
          <p:nvPr/>
        </p:nvSpPr>
        <p:spPr>
          <a:xfrm>
            <a:off x="6858000" y="1325880"/>
            <a:ext cx="47548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2A8C8C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04088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Azure · rg-gcubed-foundry · Australia East</a:t>
            </a:r>
            <a:endParaRPr lang="en-US" sz="1200" dirty="0"/>
          </a:p>
        </p:txBody>
      </p:sp>
      <p:sp>
        <p:nvSpPr>
          <p:cNvPr id="20" name="Container Registry"/>
          <p:cNvSpPr/>
          <p:nvPr/>
        </p:nvSpPr>
        <p:spPr>
          <a:xfrm>
            <a:off x="7132320" y="187452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1984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Container Registry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3500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ACR Basic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gcubed-model-api:tag</a:t>
            </a:r>
            <a:endParaRPr lang="en-US" sz="1200" dirty="0"/>
          </a:p>
        </p:txBody>
      </p:sp>
      <p:sp>
        <p:nvSpPr>
          <p:cNvPr id="23" name="Foundry resource"/>
          <p:cNvSpPr/>
          <p:nvPr/>
        </p:nvSpPr>
        <p:spPr>
          <a:xfrm>
            <a:off x="9418320" y="187452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55480" y="1984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Foundry resource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23500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AIServices account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+ project</a:t>
            </a:r>
            <a:endParaRPr lang="en-US" sz="1200" dirty="0"/>
          </a:p>
        </p:txBody>
      </p:sp>
      <p:sp>
        <p:nvSpPr>
          <p:cNvPr id="26" name="Hosted agent: gcubed-model"/>
          <p:cNvSpPr/>
          <p:nvPr/>
        </p:nvSpPr>
        <p:spPr>
          <a:xfrm>
            <a:off x="7132320" y="347472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69480" y="3584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Hosted agent: gcubed-model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39502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Container on Foundry-managed compute · Invocations protocol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POST /invocations on port 8088 · scales to zero when idle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flipV="1">
            <a:off x="6309360" y="2468880"/>
            <a:ext cx="822960" cy="274320"/>
          </a:xfrm>
          <a:prstGeom prst="line">
            <a:avLst/>
          </a:prstGeom>
          <a:noFill/>
          <a:ln w="25400">
            <a:solidFill>
              <a:srgbClr val="4A5F6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09360" y="3566160"/>
            <a:ext cx="822960" cy="457200"/>
          </a:xfrm>
          <a:prstGeom prst="line">
            <a:avLst/>
          </a:prstGeom>
          <a:noFill/>
          <a:ln w="25400">
            <a:solidFill>
              <a:srgbClr val="4A5F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92440" y="3063240"/>
            <a:ext cx="914" cy="411480"/>
          </a:xfrm>
          <a:prstGeom prst="line">
            <a:avLst/>
          </a:prstGeom>
          <a:noFill/>
          <a:ln w="25400">
            <a:solidFill>
              <a:srgbClr val="2A8C8C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18388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8C8C"/>
                </a:solidFill>
              </a:rPr>
              <a:t>AcrPull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5074920"/>
            <a:ext cx="4297680" cy="548640"/>
          </a:xfrm>
          <a:prstGeom prst="roundRect">
            <a:avLst>
              <a:gd name="adj" fmla="val 200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69480" y="5184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269480" y="5550408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51389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35"/>
                </a:solidFill>
              </a:rPr>
              <a:t>Client → POST {project}/agents/gcubed-model/…/invocations · Entra token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a deployment happens: git push → live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3350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Developer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234440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679192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3350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21992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GitHub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907792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4352544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3350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95344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GitHub Actions runner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81144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6025896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350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68696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Microsoft Entra ID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254496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7699248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133502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42048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Azure Resource Manager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927848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9372600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4" y="133502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1540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Container Registry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9601200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27" name="Shape 19"/>
          <p:cNvSpPr/>
          <p:nvPr/>
        </p:nvSpPr>
        <p:spPr>
          <a:xfrm>
            <a:off x="11045952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6536" y="1335024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588752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Foundry project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11274552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31" name="Shape 22"/>
          <p:cNvSpPr/>
          <p:nvPr/>
        </p:nvSpPr>
        <p:spPr>
          <a:xfrm>
            <a:off x="1234440" y="2459736"/>
            <a:ext cx="1673352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32" name="Text 23"/>
          <p:cNvSpPr txBox="1"/>
          <p:nvPr/>
        </p:nvSpPr>
        <p:spPr>
          <a:xfrm>
            <a:off x="1325880" y="22128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1  git push to main (app/, infra/, Dockerfile …)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2907792" y="2889504"/>
            <a:ext cx="1673352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34" name="Text 25"/>
          <p:cNvSpPr txBox="1"/>
          <p:nvPr/>
        </p:nvSpPr>
        <p:spPr>
          <a:xfrm>
            <a:off x="2999232" y="264261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2  workflow starts; clones model fork + gcubed wheel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4507992" y="3182112"/>
            <a:ext cx="146304" cy="274320"/>
          </a:xfrm>
          <a:prstGeom prst="roundRect">
            <a:avLst>
              <a:gd name="adj" fmla="val 25000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4764024" y="31638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35"/>
                </a:solidFill>
              </a:rPr>
              <a:t>3  docker build: solves G-Cubed, then tests the container locally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4581144" y="3749040"/>
            <a:ext cx="1673352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38" name="Text 29"/>
          <p:cNvSpPr txBox="1"/>
          <p:nvPr/>
        </p:nvSpPr>
        <p:spPr>
          <a:xfrm>
            <a:off x="4672584" y="35021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4  OIDC token → access token for id-github-foundry-pipeline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581144" y="4178808"/>
            <a:ext cx="3346704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40" name="Text 31"/>
          <p:cNvSpPr txBox="1"/>
          <p:nvPr/>
        </p:nvSpPr>
        <p:spPr>
          <a:xfrm>
            <a:off x="4672584" y="3931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5  Bicep: ACR, Foundry resource + project, AcrPull (idempotent)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4581144" y="4608576"/>
            <a:ext cx="5020056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42" name="Text 33"/>
          <p:cNvSpPr txBox="1"/>
          <p:nvPr/>
        </p:nvSpPr>
        <p:spPr>
          <a:xfrm>
            <a:off x="4672584" y="4361688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6  docker push gcubed-model-api:&lt;commit&gt;-m&lt;model&gt;-&lt;run&gt;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4581144" y="5038344"/>
            <a:ext cx="6693408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44" name="Text 35"/>
          <p:cNvSpPr txBox="1"/>
          <p:nvPr/>
        </p:nvSpPr>
        <p:spPr>
          <a:xfrm>
            <a:off x="4672584" y="4791456"/>
            <a:ext cx="6693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7  create agent version (image, 1 vCPU, Invocations 2.0.0)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 flipH="1">
            <a:off x="9601200" y="5468112"/>
            <a:ext cx="1673352" cy="914"/>
          </a:xfrm>
          <a:prstGeom prst="line">
            <a:avLst/>
          </a:prstGeom>
          <a:noFill/>
          <a:ln w="25400">
            <a:solidFill>
              <a:srgbClr val="2A8C8C"/>
            </a:solidFill>
            <a:prstDash val="solid"/>
            <a:tailEnd type="triangle"/>
          </a:ln>
        </p:spPr>
      </p:sp>
      <p:sp>
        <p:nvSpPr>
          <p:cNvPr id="46" name="Text 37"/>
          <p:cNvSpPr txBox="1"/>
          <p:nvPr/>
        </p:nvSpPr>
        <p:spPr>
          <a:xfrm>
            <a:off x="6858000" y="52212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8  pull image with project managed identity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4581144" y="5897880"/>
            <a:ext cx="6693408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48" name="Text 39"/>
          <p:cNvSpPr txBox="1"/>
          <p:nvPr/>
        </p:nvSpPr>
        <p:spPr>
          <a:xfrm>
            <a:off x="4672584" y="5650992"/>
            <a:ext cx="6693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9  smoke test: health + experiment + HTML report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a request is served: payload → projections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13350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Caller (script, app, notebook)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417320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520440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3350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8036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Microsoft Entra ID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749040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5852160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13350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1208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Foundry agent endpoint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080760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8183880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3350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4380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Container sandbox (port 8088)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412480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10515600" y="123444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6184" y="133502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8755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35"/>
                </a:solidFill>
              </a:rPr>
              <a:t>G-Cubed model (in memory)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10744200" y="2194560"/>
            <a:ext cx="914" cy="3977640"/>
          </a:xfrm>
          <a:prstGeom prst="line">
            <a:avLst/>
          </a:prstGeom>
          <a:noFill/>
          <a:ln w="15875">
            <a:solidFill>
              <a:srgbClr val="C9D8D8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1417320" y="2487168"/>
            <a:ext cx="2331720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24" name="Text 17"/>
          <p:cNvSpPr txBox="1"/>
          <p:nvPr/>
        </p:nvSpPr>
        <p:spPr>
          <a:xfrm>
            <a:off x="150876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1  get token for https://ai.azure.com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1417320" y="2962656"/>
            <a:ext cx="4663440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26" name="Text 19"/>
          <p:cNvSpPr txBox="1"/>
          <p:nvPr/>
        </p:nvSpPr>
        <p:spPr>
          <a:xfrm>
            <a:off x="1508760" y="27157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2  POST …/gcubed-model/…/invocations  {shocks, variables, report}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007608" y="3300984"/>
            <a:ext cx="146304" cy="274320"/>
          </a:xfrm>
          <a:prstGeom prst="roundRect">
            <a:avLst>
              <a:gd name="adj" fmla="val 25000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263640" y="3282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35"/>
                </a:solidFill>
              </a:rPr>
              <a:t>3  check token + Foundry User role; start or reuse a session sandbox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0760" y="3913632"/>
            <a:ext cx="2331720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30" name="Text 23"/>
          <p:cNvSpPr txBox="1"/>
          <p:nvPr/>
        </p:nvSpPr>
        <p:spPr>
          <a:xfrm>
            <a:off x="6172200" y="366674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4  POST /invocations (container starts in seconds if idle)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339328" y="4251960"/>
            <a:ext cx="146304" cy="274320"/>
          </a:xfrm>
          <a:prstGeom prst="roundRect">
            <a:avLst>
              <a:gd name="adj" fmla="val 25000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200400" y="4233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2A35"/>
                </a:solidFill>
              </a:rPr>
              <a:t>5  validate input; write design.yaml + adjustments.csv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412480" y="4864608"/>
            <a:ext cx="2331720" cy="914"/>
          </a:xfrm>
          <a:prstGeom prst="line">
            <a:avLst/>
          </a:prstGeom>
          <a:noFill/>
          <a:ln w="25400">
            <a:solidFill>
              <a:srgbClr val="0F5560"/>
            </a:solidFill>
            <a:prstDash val="solid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6675120" y="4617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6  SimulationRunner: baseline + shock layers on the solved model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 flipH="1">
            <a:off x="8412480" y="5340096"/>
            <a:ext cx="2331720" cy="914"/>
          </a:xfrm>
          <a:prstGeom prst="line">
            <a:avLst/>
          </a:prstGeom>
          <a:noFill/>
          <a:ln w="25400">
            <a:solidFill>
              <a:srgbClr val="2A8C8C"/>
            </a:solidFill>
            <a:prstDash val="solid"/>
            <a:tailEnd type="triangle"/>
          </a:ln>
        </p:spPr>
      </p:sp>
      <p:sp>
        <p:nvSpPr>
          <p:cNvPr id="36" name="Text 29"/>
          <p:cNvSpPr txBox="1"/>
          <p:nvPr/>
        </p:nvSpPr>
        <p:spPr>
          <a:xfrm>
            <a:off x="6675120" y="509320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7  projections (and HTML chart reports)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 flipH="1">
            <a:off x="1417320" y="5815584"/>
            <a:ext cx="6995160" cy="914"/>
          </a:xfrm>
          <a:prstGeom prst="line">
            <a:avLst/>
          </a:prstGeom>
          <a:noFill/>
          <a:ln w="25400">
            <a:solidFill>
              <a:srgbClr val="2A8C8C"/>
            </a:solidFill>
            <a:prstDash val="solid"/>
            <a:tailEnd type="triangle"/>
          </a:ln>
        </p:spPr>
      </p:sp>
      <p:sp>
        <p:nvSpPr>
          <p:cNvPr id="38" name="Text 31"/>
          <p:cNvSpPr txBox="1"/>
          <p:nvPr/>
        </p:nvSpPr>
        <p:spPr>
          <a:xfrm>
            <a:off x="1508760" y="5568696"/>
            <a:ext cx="699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</a:rPr>
              <a:t>8  JSON: baseline, experiment, deviation_from_baseline, html_reports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is allowed to do what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Identity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Role / mechanism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Lets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Scope</a:t>
            </a:r>
            <a:endParaRPr lang="en-US" sz="1200" dirty="0"/>
          </a:p>
        </p:txBody>
      </p:sp>
      <p:sp>
        <p:nvSpPr>
          <p:cNvPr id="7" name="trust0"/>
          <p:cNvSpPr/>
          <p:nvPr/>
        </p:nvSpPr>
        <p:spPr>
          <a:xfrm>
            <a:off x="548640" y="17373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47088"/>
            <a:ext cx="512064" cy="512064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454" y="1959742"/>
            <a:ext cx="286756" cy="2867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5"/>
                </a:solidFill>
              </a:rPr>
              <a:t>GitHub Actions (foundry-pipeline, env azure / main)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560"/>
                </a:solidFill>
              </a:rPr>
              <a:t>id-github-foundry-pipeline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Contributor · RBAC Administrator · Foundry Project Manager · Foundry User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1828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rg-gcubed-foundry</a:t>
            </a:r>
            <a:endParaRPr lang="en-US" sz="1200" dirty="0"/>
          </a:p>
        </p:txBody>
      </p:sp>
      <p:sp>
        <p:nvSpPr>
          <p:cNvPr id="14" name="trust1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2715768"/>
            <a:ext cx="512064" cy="512064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4" y="2828422"/>
            <a:ext cx="286756" cy="2867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25880" y="2697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5"/>
                </a:solidFill>
              </a:rPr>
              <a:t>Foundry project managed identity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02920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560"/>
                </a:solidFill>
              </a:rPr>
              <a:t>AcrPull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8638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pull the agent image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0241280" y="2697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container registry</a:t>
            </a:r>
            <a:endParaRPr lang="en-US" sz="1200" dirty="0"/>
          </a:p>
        </p:txBody>
      </p:sp>
      <p:sp>
        <p:nvSpPr>
          <p:cNvPr id="21" name="trust2"/>
          <p:cNvSpPr/>
          <p:nvPr/>
        </p:nvSpPr>
        <p:spPr>
          <a:xfrm>
            <a:off x="548640" y="34747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5800" y="3584448"/>
            <a:ext cx="512064" cy="512064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4" y="3697102"/>
            <a:ext cx="286756" cy="2867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2588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5"/>
                </a:solidFill>
              </a:rPr>
              <a:t>Foundry resource managed identity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02920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560"/>
                </a:solidFill>
              </a:rPr>
              <a:t>AcrPull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86384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pull the agent image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0241280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container registry</a:t>
            </a:r>
            <a:endParaRPr lang="en-US" sz="1200" dirty="0"/>
          </a:p>
        </p:txBody>
      </p:sp>
      <p:sp>
        <p:nvSpPr>
          <p:cNvPr id="28" name="trust3"/>
          <p:cNvSpPr/>
          <p:nvPr/>
        </p:nvSpPr>
        <p:spPr>
          <a:xfrm>
            <a:off x="548640" y="434340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5800" y="4453128"/>
            <a:ext cx="512064" cy="512064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54" y="4565782"/>
            <a:ext cx="286756" cy="2867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325880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5"/>
                </a:solidFill>
              </a:rPr>
              <a:t>You / any API caller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02920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560"/>
                </a:solidFill>
              </a:rPr>
              <a:t>Foundry User (Azure AI User)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7863840" y="4434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invoke the agent endpoint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10241280" y="4434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rg-gcubed-foundry</a:t>
            </a:r>
            <a:endParaRPr lang="en-US" sz="1200" dirty="0"/>
          </a:p>
        </p:txBody>
      </p:sp>
      <p:sp>
        <p:nvSpPr>
          <p:cNvPr id="35" name="trust4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85800" y="5321808"/>
            <a:ext cx="512064" cy="512064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54" y="5434462"/>
            <a:ext cx="286756" cy="28675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325880" y="5303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5"/>
                </a:solidFill>
              </a:rPr>
              <a:t>Hosted agent identity (auto-created per agent)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029200" y="5303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560"/>
                </a:solidFill>
              </a:rPr>
              <a:t>default Foundry access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7863840" y="5303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can call models / storage in the project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0241280" y="5303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project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5F66"/>
                </a:solidFill>
              </a:rPr>
              <a:t>No passwords, keys or client secrets exist anywhere: GitHub proves who it is with a signed OIDC token, and Azure trusts only this repository's tokens.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Two repositories, two responsibilities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18882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(fork)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8C8C"/>
                </a:solidFill>
              </a:rPr>
              <a:t>github.com/Bozmonster/gcubed.com-model-2R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Public fork of McKibbin-Software-Group/gcubed.com-model-2R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Model definition, data, simulation designs for each build (2R/197, 2R/199)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Economists change the model here; upstream updates can be synced into the fork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The pipeline builds from any branch or tag (workflow input model_ref)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245352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65392" y="173736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268" y="18882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34072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434072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8C8C"/>
                </a:solidFill>
              </a:rPr>
              <a:t>github.com/Bozmonster/foundry-pipeline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11112" y="27432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app/: API service wrapping the gcubed package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Dockerfile: Python 3.14.5 + gcubed 5.0.1.4 +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infra/main.bicep: ACR, Foundry account + project, roles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.github/workflows: build → test → deploy → smoke test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scripts/: Azure bootstrap, deploy-agent, invoke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 1 · G-Cubed model repository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98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A public fork of McKibbin Software Group's G-Cubed 2R model. It holds the model definition, data and simulation designs; the pipeline builds whatever is on the chosen branch.</a:t>
            </a:r>
            <a:endParaRPr lang="en-US" sz="1500" dirty="0"/>
          </a:p>
        </p:txBody>
      </p:sp>
      <p:sp>
        <p:nvSpPr>
          <p:cNvPr id="6" name="settings"/>
          <p:cNvSpPr/>
          <p:nvPr/>
        </p:nvSpPr>
        <p:spPr>
          <a:xfrm>
            <a:off x="548640" y="22860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Key settings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Upstream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McKibbin-Software-Group/gcubed.com-model-2R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Fork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337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Bozmonster/gcubed.com-model-2R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Visibility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Public (cloned without credentials)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Build used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343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2R/199 (model_configuration.yaml)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Package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846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gcubed 5.0.1.4 on CPython 3.14.5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Updates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5349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Sync fork pulls new upstream builds</a:t>
            </a:r>
            <a:endParaRPr lang="en-US" sz="1200" dirty="0"/>
          </a:p>
        </p:txBody>
      </p:sp>
      <p:sp>
        <p:nvSpPr>
          <p:cNvPr id="20" name="howto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C9D8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How it's set up</a:t>
            </a:r>
            <a:endParaRPr lang="en-US" sz="1500" dirty="0"/>
          </a:p>
        </p:txBody>
      </p:sp>
      <p:sp>
        <p:nvSpPr>
          <p:cNvPr id="23" name="script"/>
          <p:cNvSpPr/>
          <p:nvPr/>
        </p:nvSpPr>
        <p:spPr>
          <a:xfrm>
            <a:off x="6675120" y="2816352"/>
            <a:ext cx="4709160" cy="457200"/>
          </a:xfrm>
          <a:prstGeom prst="roundRect">
            <a:avLst>
              <a:gd name="adj" fmla="val 24000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12280" y="2816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scripts/setup/1-fork-model-repo.sh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Open the upstream repo and click Fork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Keep the name; copy the main branch only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If the owner differs, set the MODEL_REPO variable on the pipeline repo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Use Sync fork when upstream publishes a new build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8C8C"/>
                </a:solidFill>
              </a:rPr>
              <a:t>Manual guide: docs/setup/01-model-repo.md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 2 · Pipeline repository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98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Everything except the model: the API code, the container recipe, the Azure infrastructure definition, the workflow, and the setup kit.</a:t>
            </a:r>
            <a:endParaRPr lang="en-US" sz="1500" dirty="0"/>
          </a:p>
        </p:txBody>
      </p:sp>
      <p:sp>
        <p:nvSpPr>
          <p:cNvPr id="6" name="settings"/>
          <p:cNvSpPr/>
          <p:nvPr/>
        </p:nvSpPr>
        <p:spPr>
          <a:xfrm>
            <a:off x="548640" y="22860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Key settings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Repo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Bozmonster/foundry-pipeline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app/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337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API server + G-Cubed service layer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Dockerfile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python:3.14.5-slim + wheel + model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infra/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343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main.bicep (ACR, Foundry, roles)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workflow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846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.github/workflows/deploy-gcubed.yml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5349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azure (OIDC subject, approvals)</a:t>
            </a:r>
            <a:endParaRPr lang="en-US" sz="1200" dirty="0"/>
          </a:p>
        </p:txBody>
      </p:sp>
      <p:sp>
        <p:nvSpPr>
          <p:cNvPr id="20" name="howto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C9D8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How it's set up</a:t>
            </a:r>
            <a:endParaRPr lang="en-US" sz="1500" dirty="0"/>
          </a:p>
        </p:txBody>
      </p:sp>
      <p:sp>
        <p:nvSpPr>
          <p:cNvPr id="23" name="script"/>
          <p:cNvSpPr/>
          <p:nvPr/>
        </p:nvSpPr>
        <p:spPr>
          <a:xfrm>
            <a:off x="6675120" y="2816352"/>
            <a:ext cx="4709160" cy="457200"/>
          </a:xfrm>
          <a:prstGeom prst="roundRect">
            <a:avLst>
              <a:gd name="adj" fmla="val 24000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12280" y="2816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scripts/setup/2-create-pipeline-repo.sh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Create an empty repo (no README)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Push this code to main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Create the GitHub environment 'azure'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Note the owner and repo numeric IDs for the Azure trust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8C8C"/>
                </a:solidFill>
              </a:rPr>
              <a:t>Manual guide: docs/setup/02-pipeline-repo.md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 3 · GitHub Actions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98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One job, build-test-deploy: builds and tests on GitHub's runner, then signs in to Azure with OIDC and deploys. Runs on push to main or on demand with a model branch and gcubed version.</a:t>
            </a:r>
            <a:endParaRPr lang="en-US" sz="1500" dirty="0"/>
          </a:p>
        </p:txBody>
      </p:sp>
      <p:sp>
        <p:nvSpPr>
          <p:cNvPr id="6" name="settings"/>
          <p:cNvSpPr/>
          <p:nvPr/>
        </p:nvSpPr>
        <p:spPr>
          <a:xfrm>
            <a:off x="548640" y="22860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Key settings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Trigger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push to main · workflow_dispatch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Inputs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337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model_ref, gcubed_tag, deploy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Variables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AZURE_CLIENT_ID, _TENANT_ID, _SUBSCRIPTION_ID, _RESOURCE_GROUP, _LOCATION, MODEL_REPO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Image tag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343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&lt;commit&gt;-m&lt;model commit&gt;-&lt;run #&gt;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Duration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846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≈ 3 minutes end to end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Output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5349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Run summary + gcubed-sample-result artifact</a:t>
            </a:r>
            <a:endParaRPr lang="en-US" sz="1200" dirty="0"/>
          </a:p>
        </p:txBody>
      </p:sp>
      <p:sp>
        <p:nvSpPr>
          <p:cNvPr id="20" name="howto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C9D8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How it's set up</a:t>
            </a:r>
            <a:endParaRPr lang="en-US" sz="1500" dirty="0"/>
          </a:p>
        </p:txBody>
      </p:sp>
      <p:sp>
        <p:nvSpPr>
          <p:cNvPr id="23" name="script"/>
          <p:cNvSpPr/>
          <p:nvPr/>
        </p:nvSpPr>
        <p:spPr>
          <a:xfrm>
            <a:off x="6675120" y="2816352"/>
            <a:ext cx="4709160" cy="457200"/>
          </a:xfrm>
          <a:prstGeom prst="roundRect">
            <a:avLst>
              <a:gd name="adj" fmla="val 24000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12280" y="2816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scripts/setup/4-run-pipeline.sh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Add the five Azure repository variables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Actions → Deploy G-Cubed → Run workflow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Watch the run; read the endpoint in the summary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Download the artifact to see the HTML report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8C8C"/>
                </a:solidFill>
              </a:rPr>
              <a:t>Manual guide: docs/setup/04-github-actions.md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 4 · Identity: OIDC managed identity +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98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A user-assigned managed identity that GitHub Actions becomes during a run. Federated credentials make Azure trust signed tokens from this repository only, so there are no secrets to store or rotate.</a:t>
            </a:r>
            <a:endParaRPr lang="en-US" sz="1500" dirty="0"/>
          </a:p>
        </p:txBody>
      </p:sp>
      <p:sp>
        <p:nvSpPr>
          <p:cNvPr id="6" name="settings"/>
          <p:cNvSpPr/>
          <p:nvPr/>
        </p:nvSpPr>
        <p:spPr>
          <a:xfrm>
            <a:off x="548640" y="22860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Key settings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Identity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id-github-foundry-pipeline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Issuer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337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token.actions.githubusercontent.com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Subjects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foundry-pipeline: environment azure + branch main (classic and ID-based formats)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Roles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343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Contributor, RBAC Admin, Foundry Project Manager, Foundry User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Scope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846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rg-gcubed-foundry only</a:t>
            </a:r>
            <a:endParaRPr lang="en-US" sz="1200" dirty="0"/>
          </a:p>
        </p:txBody>
      </p:sp>
      <p:sp>
        <p:nvSpPr>
          <p:cNvPr id="18" name="howto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C9D8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How it's set up</a:t>
            </a:r>
            <a:endParaRPr lang="en-US" sz="1500" dirty="0"/>
          </a:p>
        </p:txBody>
      </p:sp>
      <p:sp>
        <p:nvSpPr>
          <p:cNvPr id="21" name="script"/>
          <p:cNvSpPr/>
          <p:nvPr/>
        </p:nvSpPr>
        <p:spPr>
          <a:xfrm>
            <a:off x="6675120" y="2816352"/>
            <a:ext cx="4709160" cy="457200"/>
          </a:xfrm>
          <a:prstGeom prst="roundRect">
            <a:avLst>
              <a:gd name="adj" fmla="val 24000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12280" y="2816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scripts/setup/3-azure.sh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Create a User Assigned Managed Identity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Federated credentials → Add → GitHub Actions scenario (4 entries)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Resource group → IAM → add the four roles to the identity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Copy its Client ID into AZURE_CLIENT_ID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8C8C"/>
                </a:solidFill>
              </a:rPr>
              <a:t>Manual guide: docs/setup/03-azure.md §3.2–3.4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 5 · Azure Container Registry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98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A private registry that stores every version of the G-Cubed API image. Foundry pulls from it using its own managed identities; there is no admin user or password.</a:t>
            </a:r>
            <a:endParaRPr lang="en-US" sz="1500" dirty="0"/>
          </a:p>
        </p:txBody>
      </p:sp>
      <p:sp>
        <p:nvSpPr>
          <p:cNvPr id="6" name="settings"/>
          <p:cNvSpPr/>
          <p:nvPr/>
        </p:nvSpPr>
        <p:spPr>
          <a:xfrm>
            <a:off x="548640" y="22860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Key settings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Name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gcubedacroicwmmodcn6e2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SKU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337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Basic (≈ US$5/month)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gcubed-model-api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Auth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343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Entra only: AcrPull for Foundry, push via Contributor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Created by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846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infra/main.bicep (idempotent)</a:t>
            </a:r>
            <a:endParaRPr lang="en-US" sz="1200" dirty="0"/>
          </a:p>
        </p:txBody>
      </p:sp>
      <p:sp>
        <p:nvSpPr>
          <p:cNvPr id="18" name="howto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C9D8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How it's set up</a:t>
            </a:r>
            <a:endParaRPr lang="en-US" sz="1500" dirty="0"/>
          </a:p>
        </p:txBody>
      </p:sp>
      <p:sp>
        <p:nvSpPr>
          <p:cNvPr id="21" name="script"/>
          <p:cNvSpPr/>
          <p:nvPr/>
        </p:nvSpPr>
        <p:spPr>
          <a:xfrm>
            <a:off x="6675120" y="2816352"/>
            <a:ext cx="4709160" cy="457200"/>
          </a:xfrm>
          <a:prstGeom prst="roundRect">
            <a:avLst>
              <a:gd name="adj" fmla="val 24000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12280" y="2816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deployment group create … infra/main.bicep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Created automatically by the pipeline's Bicep step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Manual: Create → Container Registry, Basic, RBAC Registry Permissions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IAM → AcrPull for the Foundry project and resource identities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8C8C"/>
                </a:solidFill>
              </a:rPr>
              <a:t>Manual guide: docs/setup/03-azure.md §3.5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 6 · Microsoft Foundry resource +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98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The Foundry account (kind AIServices) and a project that hosts agents. No language models are deployed, so it costs nothing at rest; it provides the authenticated agent endpoint and sandboxed compute.</a:t>
            </a:r>
            <a:endParaRPr lang="en-US" sz="1500" dirty="0"/>
          </a:p>
        </p:txBody>
      </p:sp>
      <p:sp>
        <p:nvSpPr>
          <p:cNvPr id="6" name="settings"/>
          <p:cNvSpPr/>
          <p:nvPr/>
        </p:nvSpPr>
        <p:spPr>
          <a:xfrm>
            <a:off x="548640" y="22860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Key settings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Resource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gcubed-foundry-oicwmmodcn6e2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Kind / SKU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337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AIServices / S0, allowProjectManagement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Project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gcubed-project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Endpoint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343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https://gcubed-foundry-…services.ai.azure.com/api/projects/gcubed-project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Auth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846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Entra only (local keys disabled)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Region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5349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australiaeast</a:t>
            </a:r>
            <a:endParaRPr lang="en-US" sz="1200" dirty="0"/>
          </a:p>
        </p:txBody>
      </p:sp>
      <p:sp>
        <p:nvSpPr>
          <p:cNvPr id="20" name="howto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C9D8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How it's set up</a:t>
            </a:r>
            <a:endParaRPr lang="en-US" sz="1500" dirty="0"/>
          </a:p>
        </p:txBody>
      </p:sp>
      <p:sp>
        <p:nvSpPr>
          <p:cNvPr id="23" name="script"/>
          <p:cNvSpPr/>
          <p:nvPr/>
        </p:nvSpPr>
        <p:spPr>
          <a:xfrm>
            <a:off x="6675120" y="2816352"/>
            <a:ext cx="4709160" cy="457200"/>
          </a:xfrm>
          <a:prstGeom prst="roundRect">
            <a:avLst>
              <a:gd name="adj" fmla="val 24000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12280" y="2816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deployment group create … infra/main.bicep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Created automatically by the pipeline's Bicep step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Manual: Create → Foundry; default project name gcubed-project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Both get system-assigned identities (used for AcrPull)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8C8C"/>
                </a:solidFill>
              </a:rPr>
              <a:t>Manual guide: docs/setup/03-azure.md §3.5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 7 · Hosted agent: gcubed-model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98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The container running on Foundry. Each deploy creates an immutable version; the endpoint serves the latest. Compute starts on the first request and is released after 15 minutes idle.</a:t>
            </a:r>
            <a:endParaRPr lang="en-US" sz="1500" dirty="0"/>
          </a:p>
        </p:txBody>
      </p:sp>
      <p:sp>
        <p:nvSpPr>
          <p:cNvPr id="6" name="settings"/>
          <p:cNvSpPr/>
          <p:nvPr/>
        </p:nvSpPr>
        <p:spPr>
          <a:xfrm>
            <a:off x="548640" y="22860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Key settings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Agent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gcubed-model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Protocol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337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Invocations 2.0.0 (POST /invocations)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Size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1 vCPU · 2 GiB per session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Image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343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…azurecr.io/gcubed-model-api:&lt;tag&gt;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Versions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846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1 per deploy; roll back by re-pointing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Created by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5349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scripts/deploy-agent.sh (REST, api-version v1)</a:t>
            </a:r>
            <a:endParaRPr lang="en-US" sz="1200" dirty="0"/>
          </a:p>
        </p:txBody>
      </p:sp>
      <p:sp>
        <p:nvSpPr>
          <p:cNvPr id="20" name="howto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C9D8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How it's set up</a:t>
            </a:r>
            <a:endParaRPr lang="en-US" sz="1500" dirty="0"/>
          </a:p>
        </p:txBody>
      </p:sp>
      <p:sp>
        <p:nvSpPr>
          <p:cNvPr id="23" name="script"/>
          <p:cNvSpPr/>
          <p:nvPr/>
        </p:nvSpPr>
        <p:spPr>
          <a:xfrm>
            <a:off x="6675120" y="2816352"/>
            <a:ext cx="4709160" cy="457200"/>
          </a:xfrm>
          <a:prstGeom prst="roundRect">
            <a:avLst>
              <a:gd name="adj" fmla="val 24000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12280" y="2816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scripts/deploy-agent.sh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POST {project}/agents (first time) or /agents/gcubed-model/versions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Body: kind hosted, image, cpu, memory, protocol_versions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Poll the version until status = active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Invoke …/endpoint/protocols/invocations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8C8C"/>
                </a:solidFill>
              </a:rPr>
              <a:t>Manual guide: docs/setup/04-github-actions.md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Component 8 · API service inside the container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47675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29844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A35"/>
                </a:solidFill>
              </a:rPr>
              <a:t>A small Python service around the gcubed package. It loads the solved model once, then answers describe / health / run requests; runs build an experiment design on the fly and return projections, deviations and optional HTML charts.</a:t>
            </a:r>
            <a:endParaRPr lang="en-US" sz="1500" dirty="0"/>
          </a:p>
        </p:txBody>
      </p:sp>
      <p:sp>
        <p:nvSpPr>
          <p:cNvPr id="6" name="settings"/>
          <p:cNvSpPr/>
          <p:nvPr/>
        </p:nvSpPr>
        <p:spPr>
          <a:xfrm>
            <a:off x="548640" y="22860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23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Key settings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Server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834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azure-ai-agentserver-invocations 1.2.0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Actions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337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run · describe · health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Inputs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variables, first_year, last_year, shocks[], report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Outputs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4343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baseline, experiment, deviation_from_baseline, html_reports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Spec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846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GET /invocations/docs/openapi.json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F66"/>
                </a:solidFill>
              </a:rPr>
              <a:t>Speed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5349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≈ 0.4–1 s per run</a:t>
            </a:r>
            <a:endParaRPr lang="en-US" sz="1200" dirty="0"/>
          </a:p>
        </p:txBody>
      </p:sp>
      <p:sp>
        <p:nvSpPr>
          <p:cNvPr id="20" name="howto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228600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C9D8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How it's set up</a:t>
            </a:r>
            <a:endParaRPr lang="en-US" sz="1500" dirty="0"/>
          </a:p>
        </p:txBody>
      </p:sp>
      <p:sp>
        <p:nvSpPr>
          <p:cNvPr id="23" name="script"/>
          <p:cNvSpPr/>
          <p:nvPr/>
        </p:nvSpPr>
        <p:spPr>
          <a:xfrm>
            <a:off x="6675120" y="2816352"/>
            <a:ext cx="4709160" cy="457200"/>
          </a:xfrm>
          <a:prstGeom prst="roundRect">
            <a:avLst>
              <a:gd name="adj" fmla="val 24000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12280" y="2816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scripts/invoke-report.sh payload.json out/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Edit app/gcubed_service.py for new actions or outputs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Run locally: docker build/run, POST to localhost:8088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Push: the pipeline tests and deploys it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0E2A35"/>
                </a:solidFill>
              </a:rPr>
              <a:t>Give callers Foundry User on the resource group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A8C8C"/>
                </a:solidFill>
              </a:rPr>
              <a:t>Manual guide: docs/setup/05-use-the-api.md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pipeline, step by step</a:t>
            </a:r>
            <a:endParaRPr lang="en-US" sz="3200" dirty="0"/>
          </a:p>
        </p:txBody>
      </p:sp>
      <p:sp>
        <p:nvSpPr>
          <p:cNvPr id="3" name="step1"/>
          <p:cNvSpPr/>
          <p:nvPr/>
        </p:nvSpPr>
        <p:spPr>
          <a:xfrm>
            <a:off x="548640" y="201168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</a:rPr>
              <a:t>Fetch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Clone model fork + gcubed wheel</a:t>
            </a:r>
            <a:endParaRPr lang="en-US" sz="1200" dirty="0"/>
          </a:p>
        </p:txBody>
      </p:sp>
      <p:sp>
        <p:nvSpPr>
          <p:cNvPr id="7" name="step2"/>
          <p:cNvSpPr/>
          <p:nvPr/>
        </p:nvSpPr>
        <p:spPr>
          <a:xfrm>
            <a:off x="1956816" y="201168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93976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093976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</a:rPr>
              <a:t>Build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093976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Docker image; model solved at build</a:t>
            </a:r>
            <a:endParaRPr lang="en-US" sz="1200" dirty="0"/>
          </a:p>
        </p:txBody>
      </p:sp>
      <p:sp>
        <p:nvSpPr>
          <p:cNvPr id="11" name="step3"/>
          <p:cNvSpPr/>
          <p:nvPr/>
        </p:nvSpPr>
        <p:spPr>
          <a:xfrm>
            <a:off x="3364992" y="201168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</a:rPr>
              <a:t>Test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Run container, call /invocations, check shock moves INFL</a:t>
            </a:r>
            <a:endParaRPr lang="en-US" sz="1200" dirty="0"/>
          </a:p>
        </p:txBody>
      </p:sp>
      <p:sp>
        <p:nvSpPr>
          <p:cNvPr id="15" name="step4"/>
          <p:cNvSpPr/>
          <p:nvPr/>
        </p:nvSpPr>
        <p:spPr>
          <a:xfrm>
            <a:off x="4773168" y="201168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10328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Azure via OIDC, no stored secrets</a:t>
            </a:r>
            <a:endParaRPr lang="en-US" sz="1200" dirty="0"/>
          </a:p>
        </p:txBody>
      </p:sp>
      <p:sp>
        <p:nvSpPr>
          <p:cNvPr id="19" name="step5"/>
          <p:cNvSpPr/>
          <p:nvPr/>
        </p:nvSpPr>
        <p:spPr>
          <a:xfrm>
            <a:off x="6181344" y="201168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Provision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Bicep: ACR, Foundry, project, AcrPull</a:t>
            </a:r>
            <a:endParaRPr lang="en-US" sz="1200" dirty="0"/>
          </a:p>
        </p:txBody>
      </p:sp>
      <p:sp>
        <p:nvSpPr>
          <p:cNvPr id="23" name="step6"/>
          <p:cNvSpPr/>
          <p:nvPr/>
        </p:nvSpPr>
        <p:spPr>
          <a:xfrm>
            <a:off x="7589520" y="201168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26680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Push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Image tagged commit + model SHA</a:t>
            </a:r>
            <a:endParaRPr lang="en-US" sz="1200" dirty="0"/>
          </a:p>
        </p:txBody>
      </p:sp>
      <p:sp>
        <p:nvSpPr>
          <p:cNvPr id="27" name="step7"/>
          <p:cNvSpPr/>
          <p:nvPr/>
        </p:nvSpPr>
        <p:spPr>
          <a:xfrm>
            <a:off x="8997696" y="201168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34856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9134856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Deploy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34856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New hosted-agent version, wait for active</a:t>
            </a:r>
            <a:endParaRPr lang="en-US" sz="1200" dirty="0"/>
          </a:p>
        </p:txBody>
      </p:sp>
      <p:sp>
        <p:nvSpPr>
          <p:cNvPr id="31" name="step8"/>
          <p:cNvSpPr/>
          <p:nvPr/>
        </p:nvSpPr>
        <p:spPr>
          <a:xfrm>
            <a:off x="10405872" y="2011680"/>
            <a:ext cx="1298448" cy="2651760"/>
          </a:xfrm>
          <a:prstGeom prst="roundRect">
            <a:avLst>
              <a:gd name="adj" fmla="val 8451"/>
            </a:avLst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3032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10543032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Verify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543032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Health + experiment via Foundry API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5F66"/>
                </a:solidFill>
              </a:rPr>
              <a:t>Runs on every push to main that touches app/, infra/, scripts/ or the Dockerfile, or on demand with a chosen model branch and gcubed version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8C8C"/>
                </a:solidFill>
              </a:rPr>
              <a:t>Build and test on the GitHub runner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773168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5560"/>
                </a:solidFill>
              </a:rPr>
              <a:t>Deploy to Azure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Inside the container</a:t>
            </a:r>
            <a:endParaRPr lang="en-US" sz="3200" dirty="0"/>
          </a:p>
        </p:txBody>
      </p:sp>
      <p:sp>
        <p:nvSpPr>
          <p:cNvPr id="3" name="layer0"/>
          <p:cNvSpPr/>
          <p:nvPr/>
        </p:nvSpPr>
        <p:spPr>
          <a:xfrm>
            <a:off x="548640" y="1417320"/>
            <a:ext cx="6766560" cy="694944"/>
          </a:xfrm>
          <a:prstGeom prst="roundRect">
            <a:avLst>
              <a:gd name="adj" fmla="val 15789"/>
            </a:avLst>
          </a:prstGeom>
          <a:solidFill>
            <a:srgbClr val="E89B2D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90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API server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904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app/main.py: Invocations protocol (azure-ai-agentserver), port 8088, /readiness, OpenAPI spec</a:t>
            </a:r>
            <a:endParaRPr lang="en-US" sz="1200" dirty="0"/>
          </a:p>
        </p:txBody>
      </p:sp>
      <p:sp>
        <p:nvSpPr>
          <p:cNvPr id="6" name="layer1"/>
          <p:cNvSpPr/>
          <p:nvPr/>
        </p:nvSpPr>
        <p:spPr>
          <a:xfrm>
            <a:off x="548640" y="2203704"/>
            <a:ext cx="6766560" cy="694944"/>
          </a:xfrm>
          <a:prstGeom prst="roundRect">
            <a:avLst>
              <a:gd name="adj" fmla="val 15789"/>
            </a:avLst>
          </a:prstGeom>
          <a:solidFill>
            <a:srgbClr val="F3C77F"/>
          </a:solidFill>
          <a:ln w="12700">
            <a:solidFill>
              <a:srgbClr val="F3C7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768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Service layer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2768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app/gcubed_service.py: input validation, baseline query, shock experiments, JSON output</a:t>
            </a:r>
            <a:endParaRPr lang="en-US" sz="1200" dirty="0"/>
          </a:p>
        </p:txBody>
      </p:sp>
      <p:sp>
        <p:nvSpPr>
          <p:cNvPr id="9" name="layer2"/>
          <p:cNvSpPr/>
          <p:nvPr/>
        </p:nvSpPr>
        <p:spPr>
          <a:xfrm>
            <a:off x="548640" y="2990088"/>
            <a:ext cx="6766560" cy="694944"/>
          </a:xfrm>
          <a:prstGeom prst="roundRect">
            <a:avLst>
              <a:gd name="adj" fmla="val 15789"/>
            </a:avLst>
          </a:prstGeom>
          <a:solidFill>
            <a:srgbClr val="2A8C8C"/>
          </a:solidFill>
          <a:ln w="12700">
            <a:solidFill>
              <a:srgbClr val="2A8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Solved model cache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063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solved_model.joblib created by prepare.py during docker build</a:t>
            </a:r>
            <a:endParaRPr lang="en-US" sz="1200" dirty="0"/>
          </a:p>
        </p:txBody>
      </p:sp>
      <p:sp>
        <p:nvSpPr>
          <p:cNvPr id="12" name="layer3"/>
          <p:cNvSpPr/>
          <p:nvPr/>
        </p:nvSpPr>
        <p:spPr>
          <a:xfrm>
            <a:off x="548640" y="3776472"/>
            <a:ext cx="6766560" cy="694944"/>
          </a:xfrm>
          <a:prstGeom prst="roundRect">
            <a:avLst>
              <a:gd name="adj" fmla="val 15789"/>
            </a:avLst>
          </a:prstGeom>
          <a:solidFill>
            <a:srgbClr val="7FB3B3"/>
          </a:solidFill>
          <a:ln w="12700">
            <a:solidFill>
              <a:srgbClr val="7FB3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496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G-Cubed model 2R/199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8496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model_configuration.yaml, data/*.csv, SYM-generated model_2R_199.py</a:t>
            </a:r>
            <a:endParaRPr lang="en-US" sz="1200" dirty="0"/>
          </a:p>
        </p:txBody>
      </p:sp>
      <p:sp>
        <p:nvSpPr>
          <p:cNvPr id="15" name="layer4"/>
          <p:cNvSpPr/>
          <p:nvPr/>
        </p:nvSpPr>
        <p:spPr>
          <a:xfrm>
            <a:off x="548640" y="4562856"/>
            <a:ext cx="6766560" cy="694944"/>
          </a:xfrm>
          <a:prstGeom prst="roundRect">
            <a:avLst>
              <a:gd name="adj" fmla="val 15789"/>
            </a:avLst>
          </a:prstGeom>
          <a:solidFill>
            <a:srgbClr val="B9D3D3"/>
          </a:solidFill>
          <a:ln w="12700">
            <a:solidFill>
              <a:srgbClr val="B9D3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636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gcubed 5.0.1.4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6360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McKibbin Software Group package (byte-compiled), numpy, pandas, scipy</a:t>
            </a:r>
            <a:endParaRPr lang="en-US" sz="1200" dirty="0"/>
          </a:p>
        </p:txBody>
      </p:sp>
      <p:sp>
        <p:nvSpPr>
          <p:cNvPr id="18" name="layer5"/>
          <p:cNvSpPr/>
          <p:nvPr/>
        </p:nvSpPr>
        <p:spPr>
          <a:xfrm>
            <a:off x="548640" y="5349240"/>
            <a:ext cx="6766560" cy="694944"/>
          </a:xfrm>
          <a:prstGeom prst="roundRect">
            <a:avLst>
              <a:gd name="adj" fmla="val 15789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4223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</a:rPr>
              <a:t>python:3.14.5-slim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54223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the wheel requires exactly CPython 3.14.5 · linux/amd64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46304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716" y="1613916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6868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solve at build time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233172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A broken model fails the build, before anything reaches Azure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Cold starts only load the cached solution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E2A35"/>
                </a:solidFill>
              </a:rPr>
              <a:t>Each image is tied to a model commit, so results can be reproduced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API: JSON inputs, JSON projections</a:t>
            </a:r>
            <a:endParaRPr lang="en-US" sz="3200" dirty="0"/>
          </a:p>
        </p:txBody>
      </p:sp>
      <p:sp>
        <p:nvSpPr>
          <p:cNvPr id="3" name="request"/>
          <p:cNvSpPr/>
          <p:nvPr/>
        </p:nvSpPr>
        <p:spPr>
          <a:xfrm>
            <a:off x="54864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B2D"/>
                </a:solidFill>
              </a:rPr>
              <a:t>Request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"run",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"variables": ["GDPR", "INFL", "INTN"],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"first_year": 2023,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"last_year": 2035,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"shocks": [{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"variable": "INFX(USA)",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"start_year": 2024,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"end_year": 2030          // optional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action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922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run (default) · describe · health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359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variables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8833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full names GDPR(USA) or prefixes GDPR (all regions)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2552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first_year / last_year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5844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window of years returned (2023–2100)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1513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shocks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480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exogenous paths, e.g. inflation target INFX, tax and spending variables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5047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560"/>
                </a:solidFill>
              </a:rPr>
              <a:t>response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3766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baseline, experiment, deviation_from_baseline, units, descriptions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 output: USA inflation target +1 percentage point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7863840" y="141732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5270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+1.23pp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35"/>
                </a:solidFill>
              </a:rPr>
              <a:t>peak inflation deviation (2025), converging to +1pp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7863840" y="292608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3035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+1.17pp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35"/>
                </a:solidFill>
              </a:rPr>
              <a:t>policy interest rate response at peak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7863840" y="443484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45445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+191bn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5166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35"/>
                </a:solidFill>
              </a:rPr>
              <a:t>US real GDP above baseline in 2024 (US$), fading after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F66"/>
                </a:solidFill>
              </a:rPr>
              <a:t>Output of examples/inflation-target-shock.json from the container API: 0.4s per call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proof: payload in, G-Cubed HTML report out</a:t>
            </a:r>
            <a:endParaRPr lang="en-US" sz="3200" dirty="0"/>
          </a:p>
        </p:txBody>
      </p:sp>
      <p:sp>
        <p:nvSpPr>
          <p:cNvPr id="3" name="payload"/>
          <p:cNvSpPr/>
          <p:nvPr/>
        </p:nvSpPr>
        <p:spPr>
          <a:xfrm>
            <a:off x="548640" y="1371600"/>
            <a:ext cx="3931920" cy="4617720"/>
          </a:xfrm>
          <a:prstGeom prst="roundRect">
            <a:avLst>
              <a:gd name="adj" fmla="val 2791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9B2D"/>
                </a:solidFill>
              </a:rPr>
              <a:t>Payload sent to Foundry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"variables": ["INFL","INTN","INTR",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"GDPR","EXCH","TBAL"],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"first_year": 2023,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"last_year": 2040,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"report": "html",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"shocks":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{"variable": "INFX(USA)",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"value": 1, "start_year": 2024},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{"variable": "INFX(ROW)",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"value": 0.5,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"start_year": 2025,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"end_year": 2030}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57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B3B3"/>
                </a:solidFill>
              </a:rPr>
              <a:t>→ 3 HTML reports + JSON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FB3B3"/>
                </a:solidFill>
              </a:rPr>
              <a:t>→ 1.0 s compute · 6.4 s round trip</a:t>
            </a:r>
            <a:endParaRPr lang="en-US" sz="1300" dirty="0"/>
          </a:p>
        </p:txBody>
      </p:sp>
      <p:pic>
        <p:nvPicPr>
          <p:cNvPr id="7" name="Image 0" descr="/home/claude/deck/crop-report-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71600"/>
            <a:ext cx="6903720" cy="3200400"/>
          </a:xfrm>
          <a:prstGeom prst="rect">
            <a:avLst/>
          </a:prstGeom>
        </p:spPr>
      </p:pic>
      <p:pic>
        <p:nvPicPr>
          <p:cNvPr id="8" name="Image 1" descr="/home/claude/deck/crop-report-char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4617720"/>
            <a:ext cx="6903720" cy="1371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9160" y="6035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F66"/>
                </a:solidFill>
              </a:rPr>
              <a:t>Rendered from the HTML the Foundry-hosted container returned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Proof: running on Microsoft Foundry today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212080" cy="4526280"/>
          </a:xfrm>
          <a:prstGeom prst="roundRect">
            <a:avLst>
              <a:gd name="adj" fmla="val 2424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resources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Resource group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591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rg-gcubed-foundry · Australia East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Foundry resource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809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gcubed-foundry-oicwmmodcn6e2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46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Foundry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02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gcubed-project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68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Hosted agent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24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gcubed-model · 1 vCPU / 2 GiB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5902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Registry image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gcubed-model-api:f48db8b-maa262b5-4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8C"/>
                </a:solidFill>
              </a:rPr>
              <a:t>Pipeline identity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681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id-github-foundry-pipeline (managed identity)</a:t>
            </a:r>
            <a:endParaRPr lang="en-US" sz="1400" dirty="0"/>
          </a:p>
        </p:txBody>
      </p:sp>
      <p:sp>
        <p:nvSpPr>
          <p:cNvPr id="17" name="verify"/>
          <p:cNvSpPr/>
          <p:nvPr/>
        </p:nvSpPr>
        <p:spPr>
          <a:xfrm>
            <a:off x="612648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9B2D"/>
                </a:solidFill>
              </a:rPr>
              <a:t>Independent check from Azure Cloud Shell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0574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rest --method POST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--resource https://ai.azure.com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--url "$EP/agents/gcubed-model/endpoint/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protocols/invocations?api-version=v1"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--body '{"shocks":[{"variable":"INFX(USA)",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"value":1,"start_year":2024}], ...}'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977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INFL(USA) deviation  0.000  1.026  1.234  1.184  1.105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INTN(USA) deviation  0.000  1.077  1.173  1.132  1.075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"secs": 0.352       real 0m7.2s (incl. CLI auth)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5029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Same numbers as the local run on the ‘Example output’ slide: the Foundry deployment reproduces the model exactly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hit along the way, and how the code handles it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882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MFA security defaults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A fresh tenant blocks Entra (Graph) calls from a local Azure CLI. Setup runs in Azure Cloud Shell and uses a managed identity, so no app registration is needed.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73736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18882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ID-based OIDC subjects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1546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GitHub sent repo:Bozmonster@5046023/foundry-pipeline@1415161671:… as the subject. The bootstrap registers both subject formats.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4672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18882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Python pin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1546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The gcubed wheel requires CPython 3.14.5 exactly, so the base image is pinned to python:3.14.5-slim.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Identity and security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781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55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secrets anywhere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40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GitHub Actions signs in with OIDC to a user-assigned managed identity. Its federated credentials trust only Bozmonster/foundry-pipeline (environment azure, branch main).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7220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187817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755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roles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315200" y="2240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id-github-foundry-pipeline holds Contributor, RBAC Administrator, Foundry Project Manager and Foundry User on rg-gcubed-foundry only.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749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41641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041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Authenticated API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4526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Callers present an Entra token for ai.azure.com and need the Foundry User role. Local (key) auth is disabled on the Foundry resource.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72200" y="3749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402336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416417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4041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pull by identity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0" y="4526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</a:rPr>
              <a:t>The Foundry project's managed identity has AcrPull on the registry. The registry has no admin user.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Cost and day-to-day operation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Billing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Idle cost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5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Azure Container Registry (Basic)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Fixed daily rate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≈ US$5 / month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Foundry resource + project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Pay per use (no model deployments)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US$0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Hosted agent (1 vCPU, 2 GiB)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CPU + memory during active sessions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US$0 after 15 min idle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GitHub Actions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Public repo minutes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US$0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Application Insights (if enabled)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Per GB ingested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A35"/>
                          </a:solidFill>
                        </a:rPr>
                        <a:t>Minimal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508760"/>
            <a:ext cx="640080" cy="64008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98" y="1649578"/>
            <a:ext cx="358445" cy="35844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77824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it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955280" y="233172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2A35"/>
                </a:solidFill>
              </a:rPr>
              <a:t>New model build: update the fork, then run the workflow with model_ref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2A35"/>
                </a:solidFill>
              </a:rPr>
              <a:t>New gcubed version: set the gcubed_tag input and the matching Python in the Dockerfile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2A35"/>
                </a:solidFill>
              </a:rPr>
              <a:t>Roll back: point the agent endpoint at an earlier version (versions are immutable)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2A35"/>
                </a:solidFill>
              </a:rPr>
              <a:t>Tear down: delete resource group rg-gcubed-foundry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Improvements 1 · the model API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jobs for long runs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62E"/>
                </a:solidFill>
              </a:rPr>
              <a:t>High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Return a job id and poll GET /invocations/{id}; needed once scenarios take longer than an HTTP timeout (bigger models, optimisation runs).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172200" y="13716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17209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presets + batches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0469880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Medium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Expose the repo's simulation designs as named presets, and accept many scenarios in one call for sensitivity sweeps.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3211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 results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172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62E"/>
                </a:solidFill>
              </a:rPr>
              <a:t>High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3566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Write every run (request, projections, HTML) to Blob Storage with a run id, so results are shareable and auditable instead of living only in the response.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0" y="32004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332110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door for non-Azure users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0469880" y="3172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Medium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7132320" y="3566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Azure API Management in front of Foundry for API keys, quotas, a developer portal and a friendly URL.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92130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50876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questions in plain English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4846320" y="4773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Medium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1508760" y="5166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Add a Foundry agent with a language model that calls this API as a tool and explains the results ('what happens if…').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400800" y="48006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921301"/>
            <a:ext cx="307238" cy="30723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13232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web front end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10469880" y="4773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Low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7132320" y="5166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A small page to pick shocks, run the model and view the HTML charts, signed in with Entra.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Improvements 2 · engineering and operations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regression tests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62E"/>
                </a:solidFill>
              </a:rPr>
              <a:t>High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Compare each build's projections with a stored 'golden' baseline and fail the pipeline on unexpected drift.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172200" y="13716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17209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→ prod promotion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0469880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62E"/>
                </a:solidFill>
              </a:rPr>
              <a:t>High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1965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Separate dev and prod Foundry projects; deploy to dev on push and promote to prod after approval on the 'azure-prod' environment.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3211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Supply-chain hardening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172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Medium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3566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Pin the base image by digest, scan images (Defender for Containers / Trivy), and sign them; move to private networking and a private registry.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0" y="32004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332110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as code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0469880" y="3172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Medium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7132320" y="3566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Move the managed identity, federated credentials and role assignments into Bicep so the bootstrap is one deployment.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92130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50876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+ budgets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4846320" y="4773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Medium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1508760" y="5166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Dashboards on Application Insights (latency, errors, runs per user) and an Azure budget alert on the resource group.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400800" y="4800600"/>
            <a:ext cx="548640" cy="54864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921301"/>
            <a:ext cx="307238" cy="30723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13232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+ housekeeping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10469880" y="4773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62E"/>
                </a:solidFill>
              </a:rPr>
              <a:t>High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7132320" y="5166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5"/>
                </a:solidFill>
              </a:rPr>
              <a:t>Confirm gcubed licensing with McKibbin Software Group; update actions to Node 24 versions; add a model-build matrix (197, 199).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Recreating it: scripts and illustrated guides</a:t>
            </a:r>
            <a:endParaRPr lang="en-US" sz="3200" dirty="0"/>
          </a:p>
        </p:txBody>
      </p:sp>
      <p:sp>
        <p:nvSpPr>
          <p:cNvPr id="3" name="kit0"/>
          <p:cNvSpPr/>
          <p:nvPr/>
        </p:nvSpPr>
        <p:spPr>
          <a:xfrm>
            <a:off x="548640" y="14173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</a:rPr>
              <a:t>Model fork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Script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1-fork-model-repo.sh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Guide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01-model-repo.md</a:t>
            </a:r>
            <a:endParaRPr lang="en-US" sz="1050" dirty="0"/>
          </a:p>
        </p:txBody>
      </p:sp>
      <p:sp>
        <p:nvSpPr>
          <p:cNvPr id="10" name="kit1"/>
          <p:cNvSpPr/>
          <p:nvPr/>
        </p:nvSpPr>
        <p:spPr>
          <a:xfrm>
            <a:off x="2816352" y="14173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9232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</a:rPr>
              <a:t>Pipeline repo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Script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2-create-pipeline-repo.sh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Guide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02-pipeline-repo.md</a:t>
            </a:r>
            <a:endParaRPr lang="en-US" sz="1050" dirty="0"/>
          </a:p>
        </p:txBody>
      </p:sp>
      <p:sp>
        <p:nvSpPr>
          <p:cNvPr id="17" name="kit2"/>
          <p:cNvSpPr/>
          <p:nvPr/>
        </p:nvSpPr>
        <p:spPr>
          <a:xfrm>
            <a:off x="5084064" y="14173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66944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Azure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66944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FB3B3"/>
                </a:solidFill>
              </a:rPr>
              <a:t>Script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266944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3-azure.sh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266944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FB3B3"/>
                </a:solidFill>
              </a:rPr>
              <a:t>Guide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66944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03-azure.md</a:t>
            </a:r>
            <a:endParaRPr lang="en-US" sz="1050" dirty="0"/>
          </a:p>
        </p:txBody>
      </p:sp>
      <p:sp>
        <p:nvSpPr>
          <p:cNvPr id="24" name="kit3"/>
          <p:cNvSpPr/>
          <p:nvPr/>
        </p:nvSpPr>
        <p:spPr>
          <a:xfrm>
            <a:off x="7351776" y="14173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34656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53465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</a:rPr>
              <a:t>GitHub Actions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34656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Script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534656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4-run-pipeline.sh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534656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Guide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04-github-actions.md</a:t>
            </a:r>
            <a:endParaRPr lang="en-US" sz="1050" dirty="0"/>
          </a:p>
        </p:txBody>
      </p:sp>
      <p:sp>
        <p:nvSpPr>
          <p:cNvPr id="31" name="kit4"/>
          <p:cNvSpPr/>
          <p:nvPr/>
        </p:nvSpPr>
        <p:spPr>
          <a:xfrm>
            <a:off x="9619488" y="14173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E6EFEF"/>
          </a:solidFill>
          <a:ln w="12700">
            <a:solidFill>
              <a:srgbClr val="E6EF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02368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5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9802368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35"/>
                </a:solidFill>
              </a:rPr>
              <a:t>Use the API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802368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Script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02368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invoke-report.sh · 5-grant-api-access.sh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802368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8C8C"/>
                </a:solidFill>
              </a:rPr>
              <a:t>Guide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802368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05-use-the-api.md</a:t>
            </a:r>
            <a:endParaRPr lang="en-US" sz="1050" dirty="0"/>
          </a:p>
        </p:txBody>
      </p:sp>
      <p:sp>
        <p:nvSpPr>
          <p:cNvPr id="38" name="oneliner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0E2A35"/>
          </a:solidFill>
          <a:ln w="12700">
            <a:solidFill>
              <a:srgbClr val="0E2A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B2D"/>
                </a:solidFill>
              </a:rPr>
              <a:t>All steps in one go, in Azure Cloud Shell (Bash):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074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https://github.com/Bozmonster/foundry-pipeline &amp;&amp; cd foundry-pipeline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scripts/setup/setup-all.sh      # interactive; answers saved to setup.env; safe to re-run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FEF"/>
                </a:solidFill>
              </a:rPr>
              <a:t>Expose the remaining 2R/199 simulation designs as named presets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FEF"/>
                </a:solidFill>
              </a:rPr>
              <a:t>Add async jobs and persist every run (request, projections, HTML) to Blob Storage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FEF"/>
                </a:solidFill>
              </a:rPr>
              <a:t>Split dev and prod Foundry projects with an approval gate between them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FEF"/>
                </a:solidFill>
              </a:rPr>
              <a:t>Add a front end or Foundry agent that calls the model as a tool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6EFEF"/>
                </a:solidFill>
              </a:rPr>
              <a:t>Confirm licensing terms for gcubed with McKibbin Software Group before wider use</a:t>
            </a:r>
            <a:endParaRPr lang="en-US" sz="1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ubed Foundry">
  <a:themeElements>
    <a:clrScheme name="GCubed Foundry">
      <a:dk1>
        <a:srgbClr val="0E2A35"/>
      </a:dk1>
      <a:lt1>
        <a:srgbClr val="FFFFFF"/>
      </a:lt1>
      <a:dk2>
        <a:srgbClr val="0F5560"/>
      </a:dk2>
      <a:lt2>
        <a:srgbClr val="E6EFEF"/>
      </a:lt2>
      <a:accent1>
        <a:srgbClr val="0F5560"/>
      </a:accent1>
      <a:accent2>
        <a:srgbClr val="E89B2D"/>
      </a:accent2>
      <a:accent3>
        <a:srgbClr val="2A8C8C"/>
      </a:accent3>
      <a:accent4>
        <a:srgbClr val="4A5F66"/>
      </a:accent4>
      <a:accent5>
        <a:srgbClr val="7FB3B3"/>
      </a:accent5>
      <a:accent6>
        <a:srgbClr val="B5562E"/>
      </a:accent6>
      <a:hlink>
        <a:srgbClr val="2A8C8C"/>
      </a:hlink>
      <a:folHlink>
        <a:srgbClr val="4A5F66"/>
      </a:folHlink>
    </a:clrScheme>
    <a:fontScheme name="GCubed Found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G-Cubed on Microsoft Foundry</dc:title>
  <dc:subject>PptxGenJS Presentation</dc:subject>
  <dc:creator>Bozmonster</dc:creator>
  <cp:lastModifiedBy>Bozmonster</cp:lastModifiedBy>
  <cp:revision>1</cp:revision>
  <dcterms:created xsi:type="dcterms:W3CDTF">2026-10-12T08:41:11Z</dcterms:created>
  <dcterms:modified xsi:type="dcterms:W3CDTF">2026-10-12T08:41:11Z</dcterms:modified>
</cp:coreProperties>
</file>