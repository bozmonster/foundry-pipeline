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b503a14c-d415-b04a-c889-4c11e5ecd611}">
          <p14:sldIdLst>
            <p14:sldId id="256"/>
            <p14:sldId id="257"/>
          </p14:sldIdLst>
        </p14:section>
        <p14:section name="Architecture" id="{6062f504-c7ca-f7d3-28ec-ec54203d8ac5}">
          <p14:sldIdLst>
            <p14:sldId id="258"/>
            <p14:sldId id="259"/>
          </p14:sldIdLst>
        </p14:section>
        <p14:section name="Pipeline" id="{f9fe7519-0add-cb6d-01e3-9f1ec92367cb}">
          <p14:sldIdLst>
            <p14:sldId id="260"/>
            <p14:sldId id="261"/>
          </p14:sldIdLst>
        </p14:section>
        <p14:section name="API" id="{a676e89d-d71b-1569-897e-8c682d9d7beb}">
          <p14:sldIdLst>
            <p14:sldId id="262"/>
            <p14:sldId id="263"/>
            <p14:sldId id="264"/>
            <p14:sldId id="265"/>
          </p14:sldIdLst>
        </p14:section>
        <p14:section name="Operations" id="{adc83a44-0663-3432-b923-20424063b07b}">
          <p14:sldIdLst>
            <p14:sldId id="266"/>
            <p14:sldId id="267"/>
          </p14:sldIdLst>
        </p14:section>
        <p14:section name="Next steps" id="{ae0d902f-f68d-f2a8-5f5e-d1a4116d7ae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A3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E2A35"/>
                </a:solidFill>
                <a:latin typeface="+mn-lt"/>
              </a:rPr>
              <a:t>USA consumer price inflation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4A5F66"/>
            </a:solidFill>
            <a:ln w="38100" cap="flat">
              <a:solidFill>
                <a:srgbClr val="4A5F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A5F66"/>
              </a:solidFill>
              <a:ln w="9525" cap="flat">
                <a:solidFill>
                  <a:srgbClr val="4A5F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  <c:pt idx="4">
                    <c:v>2027</c:v>
                  </c:pt>
                  <c:pt idx="5">
                    <c:v>2028</c:v>
                  </c:pt>
                  <c:pt idx="6">
                    <c:v>2029</c:v>
                  </c:pt>
                  <c:pt idx="7">
                    <c:v>2030</c:v>
                  </c:pt>
                  <c:pt idx="8">
                    <c:v>2031</c:v>
                  </c:pt>
                  <c:pt idx="9">
                    <c:v>2032</c:v>
                  </c:pt>
                  <c:pt idx="10">
                    <c:v>2033</c:v>
                  </c:pt>
                  <c:pt idx="11">
                    <c:v>2034</c:v>
                  </c:pt>
                  <c:pt idx="12">
                    <c:v>2035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3.728</c:v>
                </c:pt>
                <c:pt idx="1">
                  <c:v>2.603</c:v>
                </c:pt>
                <c:pt idx="2">
                  <c:v>2.903</c:v>
                </c:pt>
                <c:pt idx="3">
                  <c:v>3.4</c:v>
                </c:pt>
                <c:pt idx="4">
                  <c:v>3.727</c:v>
                </c:pt>
                <c:pt idx="5">
                  <c:v>3.885</c:v>
                </c:pt>
                <c:pt idx="6">
                  <c:v>3.948</c:v>
                </c:pt>
                <c:pt idx="7">
                  <c:v>3.974</c:v>
                </c:pt>
                <c:pt idx="8">
                  <c:v>3.976</c:v>
                </c:pt>
                <c:pt idx="9">
                  <c:v>3.974</c:v>
                </c:pt>
                <c:pt idx="10">
                  <c:v>3.972</c:v>
                </c:pt>
                <c:pt idx="11">
                  <c:v>3.971</c:v>
                </c:pt>
                <c:pt idx="12">
                  <c:v>3.97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+1pp target</c:v>
                </c:pt>
              </c:strCache>
            </c:strRef>
          </c:tx>
          <c:spPr>
            <a:solidFill>
              <a:srgbClr val="E89B2D"/>
            </a:solidFill>
            <a:ln w="38100" cap="flat">
              <a:solidFill>
                <a:srgbClr val="E89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9B2D"/>
              </a:solidFill>
              <a:ln w="9525" cap="flat">
                <a:solidFill>
                  <a:srgbClr val="E89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  <c:pt idx="4">
                    <c:v>2027</c:v>
                  </c:pt>
                  <c:pt idx="5">
                    <c:v>2028</c:v>
                  </c:pt>
                  <c:pt idx="6">
                    <c:v>2029</c:v>
                  </c:pt>
                  <c:pt idx="7">
                    <c:v>2030</c:v>
                  </c:pt>
                  <c:pt idx="8">
                    <c:v>2031</c:v>
                  </c:pt>
                  <c:pt idx="9">
                    <c:v>2032</c:v>
                  </c:pt>
                  <c:pt idx="10">
                    <c:v>2033</c:v>
                  </c:pt>
                  <c:pt idx="11">
                    <c:v>2034</c:v>
                  </c:pt>
                  <c:pt idx="12">
                    <c:v>2035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3.728</c:v>
                </c:pt>
                <c:pt idx="1">
                  <c:v>3.629</c:v>
                </c:pt>
                <c:pt idx="2">
                  <c:v>4.137</c:v>
                </c:pt>
                <c:pt idx="3">
                  <c:v>4.584</c:v>
                </c:pt>
                <c:pt idx="4">
                  <c:v>4.832</c:v>
                </c:pt>
                <c:pt idx="5">
                  <c:v>4.937</c:v>
                </c:pt>
                <c:pt idx="6">
                  <c:v>4.973</c:v>
                </c:pt>
                <c:pt idx="7">
                  <c:v>4.986</c:v>
                </c:pt>
                <c:pt idx="8">
                  <c:v>4.984</c:v>
                </c:pt>
                <c:pt idx="9">
                  <c:v>4.979</c:v>
                </c:pt>
                <c:pt idx="10">
                  <c:v>4.976</c:v>
                </c:pt>
                <c:pt idx="11">
                  <c:v>4.974</c:v>
                </c:pt>
                <c:pt idx="12">
                  <c:v>4.973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5"/>
          <c:min val="2"/>
        </c:scaling>
        <c:delete val="0"/>
        <c:axPos val="l"/>
        <c:majorGridlines>
          <c:spPr>
            <a:ln w="9525" cap="flat">
              <a:solidFill>
                <a:srgbClr val="C9D8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E2A3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of concept. G-Cubed 2R build 199 runs as a Microsoft Foundry hosted agent, deployed by GitHub Actions from Bozmonster/foundry-pipeline.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source repos feed one GitHub Actions workflow. The workflow provisions Azure with Bicep, pushes the image to ACR, and registers a new hosted-agent version in the Foundry project. Callers reach the model through the Foundry project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Endpoint: POST https://&lt;foundry&gt;.services.ai.azure.com/api/projects/gcubed-project/agents/gcubed-model/endpoint/protocols/invocations?api-version=v1 with an Entra bearer token for https://ai.azure.com. Callers need the Azure AI User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gcubed package is licensed 'All rights reserved'. This pipeline downloads it at build time from the publisher's public repo and doesn't redistribute it; the image stays in a private ACR.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E2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7FB3B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66"/>
                </a:solidFill>
              </a:rPr>
              <a:t>G-Cubed on Microsoft Foundry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G-Cubed on Microsoft Foundry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7FB3B3"/>
                </a:solidFill>
              </a:rPr>
              <a:t>A GitHub Actions pipeline that builds the G-Cubed model into a container, deploys it to Foundry, and serves it as an API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31520" cy="731520"/>
          </a:xfrm>
          <a:prstGeom prst="ellipse">
            <a:avLst/>
          </a:prstGeom>
          <a:solidFill>
            <a:srgbClr val="E89B2D"/>
          </a:solidFill>
          <a:ln w="12700">
            <a:solidFill>
              <a:srgbClr val="E89B2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1258214"/>
            <a:ext cx="409651" cy="4096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this proves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2596896" cy="3566160"/>
          </a:xfrm>
          <a:prstGeom prst="roundRect">
            <a:avLst>
              <a:gd name="adj" fmla="val 422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96961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3m 26s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2A35"/>
                </a:solidFill>
              </a:rPr>
              <a:t>from git push to a verified API on Foundry (Actions run #4, first full deploy)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64992" y="1554480"/>
            <a:ext cx="2596896" cy="3566160"/>
          </a:xfrm>
          <a:prstGeom prst="roundRect">
            <a:avLst>
              <a:gd name="adj" fmla="val 422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9312" y="182880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130" y="196961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0.35s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2A35"/>
                </a:solidFill>
              </a:rPr>
              <a:t>of G-Cubed compute per API call, measured on the deployed agent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181344" y="1554480"/>
            <a:ext cx="2596896" cy="3566160"/>
          </a:xfrm>
          <a:prstGeom prst="roundRect">
            <a:avLst>
              <a:gd name="adj" fmla="val 422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55664" y="182880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2" y="196961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2A35"/>
                </a:solidFill>
              </a:rPr>
              <a:t>match between Foundry results and a local run of the same model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8997696" y="1554480"/>
            <a:ext cx="2596896" cy="3566160"/>
          </a:xfrm>
          <a:prstGeom prst="roundRect">
            <a:avLst>
              <a:gd name="adj" fmla="val 422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72016" y="182880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834" y="196961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</a:t>
            </a:r>
            <a:endParaRPr lang="en-US" sz="36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2A35"/>
                </a:solidFill>
              </a:rPr>
              <a:t>compute while idle. Foundry releases hosted-agent compute after 15 min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F66"/>
                </a:solidFill>
              </a:rPr>
              <a:t>Model: G-Cubed 2R (2 sectors, 2 symmetric regions: USA and Rest of World), build 199, gcubed Python 5.0.1.4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Architecture: from source to API</a:t>
            </a:r>
            <a:endParaRPr lang="en-US" sz="3200" dirty="0"/>
          </a:p>
        </p:txBody>
      </p:sp>
      <p:sp>
        <p:nvSpPr>
          <p:cNvPr id="3" name="Model fork (public)"/>
          <p:cNvSpPr/>
          <p:nvPr/>
        </p:nvSpPr>
        <p:spPr>
          <a:xfrm>
            <a:off x="548640" y="14630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727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Model fork (public)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Bozmonster/gcubed.com-model-2R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model 2R/199 data + SYM</a:t>
            </a:r>
            <a:endParaRPr lang="en-US" sz="1200" dirty="0"/>
          </a:p>
        </p:txBody>
      </p:sp>
      <p:sp>
        <p:nvSpPr>
          <p:cNvPr id="6" name="gcubed wheel"/>
          <p:cNvSpPr/>
          <p:nvPr/>
        </p:nvSpPr>
        <p:spPr>
          <a:xfrm>
            <a:off x="548640" y="269748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807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gcubed wheel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72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McKibbin-Software-Group/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gcubed-public-prerequisites</a:t>
            </a:r>
            <a:endParaRPr lang="en-US" sz="1200" dirty="0"/>
          </a:p>
        </p:txBody>
      </p:sp>
      <p:sp>
        <p:nvSpPr>
          <p:cNvPr id="9" name="Pipeline repo"/>
          <p:cNvSpPr/>
          <p:nvPr/>
        </p:nvSpPr>
        <p:spPr>
          <a:xfrm>
            <a:off x="548640" y="39319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0416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Pipeline repo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074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Bozmonster/foundry-pipeline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API, Dockerfile, Bicep, workflow</a:t>
            </a:r>
            <a:endParaRPr lang="en-US" sz="1200" dirty="0"/>
          </a:p>
        </p:txBody>
      </p:sp>
      <p:sp>
        <p:nvSpPr>
          <p:cNvPr id="12" name="GitHub Actions"/>
          <p:cNvSpPr/>
          <p:nvPr/>
        </p:nvSpPr>
        <p:spPr>
          <a:xfrm>
            <a:off x="3840480" y="2103120"/>
            <a:ext cx="2468880" cy="2194560"/>
          </a:xfrm>
          <a:prstGeom prst="roundRect">
            <a:avLst>
              <a:gd name="adj" fmla="val 5000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7764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GitHub Actions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2578608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1. build image + solve model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2. test container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3. Bicep (infra)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4. push to ACR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5. create agent 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6. smoke-test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011680"/>
            <a:ext cx="640080" cy="640080"/>
          </a:xfrm>
          <a:prstGeom prst="line">
            <a:avLst/>
          </a:prstGeom>
          <a:noFill/>
          <a:ln w="25400">
            <a:solidFill>
              <a:srgbClr val="4A5F6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00400" y="3200400"/>
            <a:ext cx="640080" cy="914"/>
          </a:xfrm>
          <a:prstGeom prst="line">
            <a:avLst/>
          </a:prstGeom>
          <a:noFill/>
          <a:ln w="25400">
            <a:solidFill>
              <a:srgbClr val="4A5F6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3200400" y="3749040"/>
            <a:ext cx="640080" cy="685800"/>
          </a:xfrm>
          <a:prstGeom prst="line">
            <a:avLst/>
          </a:prstGeom>
          <a:noFill/>
          <a:ln w="25400">
            <a:solidFill>
              <a:srgbClr val="4A5F66"/>
            </a:solidFill>
            <a:prstDash val="solid"/>
            <a:tailEnd type="triangle"/>
          </a:ln>
        </p:spPr>
      </p:sp>
      <p:sp>
        <p:nvSpPr>
          <p:cNvPr id="18" name="azure-boundary"/>
          <p:cNvSpPr/>
          <p:nvPr/>
        </p:nvSpPr>
        <p:spPr>
          <a:xfrm>
            <a:off x="6858000" y="1325880"/>
            <a:ext cx="475488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2A8C8C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040880" y="1417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Azure · rg-gcubed-foundry · Australia East</a:t>
            </a:r>
            <a:endParaRPr lang="en-US" sz="1200" dirty="0"/>
          </a:p>
        </p:txBody>
      </p:sp>
      <p:sp>
        <p:nvSpPr>
          <p:cNvPr id="20" name="Container Registry"/>
          <p:cNvSpPr/>
          <p:nvPr/>
        </p:nvSpPr>
        <p:spPr>
          <a:xfrm>
            <a:off x="7132320" y="1874520"/>
            <a:ext cx="1920240" cy="1188720"/>
          </a:xfrm>
          <a:prstGeom prst="roundRect">
            <a:avLst>
              <a:gd name="adj" fmla="val 9231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19842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Container Registry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35000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ACR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gcubed-model-api:tag</a:t>
            </a:r>
            <a:endParaRPr lang="en-US" sz="1200" dirty="0"/>
          </a:p>
        </p:txBody>
      </p:sp>
      <p:sp>
        <p:nvSpPr>
          <p:cNvPr id="23" name="Foundry resource"/>
          <p:cNvSpPr/>
          <p:nvPr/>
        </p:nvSpPr>
        <p:spPr>
          <a:xfrm>
            <a:off x="9418320" y="1874520"/>
            <a:ext cx="2011680" cy="1188720"/>
          </a:xfrm>
          <a:prstGeom prst="roundRect">
            <a:avLst>
              <a:gd name="adj" fmla="val 9231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19842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Foundry resource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555480" y="23500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AIServices account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+ project</a:t>
            </a:r>
            <a:endParaRPr lang="en-US" sz="1200" dirty="0"/>
          </a:p>
        </p:txBody>
      </p:sp>
      <p:sp>
        <p:nvSpPr>
          <p:cNvPr id="26" name="Hosted agent: gcubed-model"/>
          <p:cNvSpPr/>
          <p:nvPr/>
        </p:nvSpPr>
        <p:spPr>
          <a:xfrm>
            <a:off x="7132320" y="347472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E89B2D"/>
          </a:solidFill>
          <a:ln w="12700">
            <a:solidFill>
              <a:srgbClr val="E89B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69480" y="35844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Hosted agent: gcubed-model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395020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Container on Foundry-managed compute · Invocations protocol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POST /invocations on port 8088 · scales to zero when idle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V="1">
            <a:off x="6309360" y="2468880"/>
            <a:ext cx="822960" cy="274320"/>
          </a:xfrm>
          <a:prstGeom prst="line">
            <a:avLst/>
          </a:prstGeom>
          <a:noFill/>
          <a:ln w="25400">
            <a:solidFill>
              <a:srgbClr val="4A5F6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66160"/>
            <a:ext cx="822960" cy="457200"/>
          </a:xfrm>
          <a:prstGeom prst="line">
            <a:avLst/>
          </a:prstGeom>
          <a:noFill/>
          <a:ln w="25400">
            <a:solidFill>
              <a:srgbClr val="4A5F6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092440" y="3063240"/>
            <a:ext cx="914" cy="411480"/>
          </a:xfrm>
          <a:prstGeom prst="line">
            <a:avLst/>
          </a:prstGeom>
          <a:noFill/>
          <a:ln w="25400">
            <a:solidFill>
              <a:srgbClr val="2A8C8C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8183880" y="3127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8C8C"/>
                </a:solidFill>
              </a:rPr>
              <a:t>AcrPull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32320" y="5074920"/>
            <a:ext cx="4297680" cy="548640"/>
          </a:xfrm>
          <a:prstGeom prst="roundRect">
            <a:avLst>
              <a:gd name="adj" fmla="val 20000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69480" y="5184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269480" y="5550408"/>
            <a:ext cx="40233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269480" y="51389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2A35"/>
                </a:solidFill>
              </a:rPr>
              <a:t>Client → POST {project}/agents/gcubed-model/…/invocations · Entra token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Two repositories, two responsibilities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88823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(fork)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8C8C"/>
                </a:solidFill>
              </a:rPr>
              <a:t>github.com/Bozmonster/gcubed.com-model-2R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4320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Public fork of McKibbin-Software-Group/gcubed.com-model-2R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Model definition, data, simulation designs for each build (2R/197, 2R/199)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Economists change the model here; upstream updates can be synced into the fork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The pipeline builds from any branch or tag (workflow input model_ref)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45352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65392" y="173736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88823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34072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434072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8C8C"/>
                </a:solidFill>
              </a:rPr>
              <a:t>github.com/Bozmonster/foundry-pipeline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11112" y="274320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app/: API service wrapping the gcubed package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Dockerfile: Python 3.14.5 + gcubed 5.0.1.4 +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infra/main.bicep: ACR, Foundry account + project, roles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.github/workflows: build → test → deploy → smoke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scripts/: Azure bootstrap, deploy-agent, invoke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pipeline, step by step</a:t>
            </a:r>
            <a:endParaRPr lang="en-US" sz="3200" dirty="0"/>
          </a:p>
        </p:txBody>
      </p:sp>
      <p:sp>
        <p:nvSpPr>
          <p:cNvPr id="3" name="step1"/>
          <p:cNvSpPr/>
          <p:nvPr/>
        </p:nvSpPr>
        <p:spPr>
          <a:xfrm>
            <a:off x="548640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A35"/>
                </a:solidFill>
              </a:rPr>
              <a:t>Fetch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Clone model fork + gcubed wheel</a:t>
            </a:r>
            <a:endParaRPr lang="en-US" sz="1200" dirty="0"/>
          </a:p>
        </p:txBody>
      </p:sp>
      <p:sp>
        <p:nvSpPr>
          <p:cNvPr id="7" name="step2"/>
          <p:cNvSpPr/>
          <p:nvPr/>
        </p:nvSpPr>
        <p:spPr>
          <a:xfrm>
            <a:off x="1956816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93976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093976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A35"/>
                </a:solidFill>
              </a:rPr>
              <a:t>Build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Docker image; model solved at build</a:t>
            </a:r>
            <a:endParaRPr lang="en-US" sz="1200" dirty="0"/>
          </a:p>
        </p:txBody>
      </p:sp>
      <p:sp>
        <p:nvSpPr>
          <p:cNvPr id="11" name="step3"/>
          <p:cNvSpPr/>
          <p:nvPr/>
        </p:nvSpPr>
        <p:spPr>
          <a:xfrm>
            <a:off x="3364992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02152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A35"/>
                </a:solidFill>
              </a:rPr>
              <a:t>Test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Run container, call /invocations, check shock moves INFL</a:t>
            </a:r>
            <a:endParaRPr lang="en-US" sz="1200" dirty="0"/>
          </a:p>
        </p:txBody>
      </p:sp>
      <p:sp>
        <p:nvSpPr>
          <p:cNvPr id="15" name="step4"/>
          <p:cNvSpPr/>
          <p:nvPr/>
        </p:nvSpPr>
        <p:spPr>
          <a:xfrm>
            <a:off x="4773168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0328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910328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Login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910328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Azure via OIDC, no stored secrets</a:t>
            </a:r>
            <a:endParaRPr lang="en-US" sz="1200" dirty="0"/>
          </a:p>
        </p:txBody>
      </p:sp>
      <p:sp>
        <p:nvSpPr>
          <p:cNvPr id="19" name="step5"/>
          <p:cNvSpPr/>
          <p:nvPr/>
        </p:nvSpPr>
        <p:spPr>
          <a:xfrm>
            <a:off x="6181344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18504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Provision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18504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Bicep: ACR, Foundry, project, AcrPull</a:t>
            </a:r>
            <a:endParaRPr lang="en-US" sz="1200" dirty="0"/>
          </a:p>
        </p:txBody>
      </p:sp>
      <p:sp>
        <p:nvSpPr>
          <p:cNvPr id="23" name="step6"/>
          <p:cNvSpPr/>
          <p:nvPr/>
        </p:nvSpPr>
        <p:spPr>
          <a:xfrm>
            <a:off x="7589520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26680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Push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Image tagged commit + model SHA</a:t>
            </a:r>
            <a:endParaRPr lang="en-US" sz="1200" dirty="0"/>
          </a:p>
        </p:txBody>
      </p:sp>
      <p:sp>
        <p:nvSpPr>
          <p:cNvPr id="27" name="step7"/>
          <p:cNvSpPr/>
          <p:nvPr/>
        </p:nvSpPr>
        <p:spPr>
          <a:xfrm>
            <a:off x="8997696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34856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9134856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Deploy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34856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New hosted-agent version, wait for active</a:t>
            </a:r>
            <a:endParaRPr lang="en-US" sz="1200" dirty="0"/>
          </a:p>
        </p:txBody>
      </p:sp>
      <p:sp>
        <p:nvSpPr>
          <p:cNvPr id="31" name="step8"/>
          <p:cNvSpPr/>
          <p:nvPr/>
        </p:nvSpPr>
        <p:spPr>
          <a:xfrm>
            <a:off x="10405872" y="2011680"/>
            <a:ext cx="1298448" cy="2651760"/>
          </a:xfrm>
          <a:prstGeom prst="roundRect">
            <a:avLst>
              <a:gd name="adj" fmla="val 8451"/>
            </a:avLst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43032" y="21488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9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10543032" y="2743200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Verify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0543032" y="3154680"/>
            <a:ext cx="1024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Health + experiment via Foundry API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F66"/>
                </a:solidFill>
              </a:rPr>
              <a:t>Runs on every push to main that touches app/, infra/, scripts/ or the Dockerfile, or on demand with a chosen model branch and gcubed version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8C8C"/>
                </a:solidFill>
              </a:rPr>
              <a:t>Build and test on the GitHub runner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773168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5560"/>
                </a:solidFill>
              </a:rPr>
              <a:t>Deploy to Azure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Inside the container</a:t>
            </a:r>
            <a:endParaRPr lang="en-US" sz="3200" dirty="0"/>
          </a:p>
        </p:txBody>
      </p:sp>
      <p:sp>
        <p:nvSpPr>
          <p:cNvPr id="3" name="layer0"/>
          <p:cNvSpPr/>
          <p:nvPr/>
        </p:nvSpPr>
        <p:spPr>
          <a:xfrm>
            <a:off x="548640" y="1417320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E89B2D"/>
          </a:solidFill>
          <a:ln w="12700">
            <a:solidFill>
              <a:srgbClr val="E89B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904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API server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49047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app/main.py: Invocations protocol (azure-ai-agentserver), port 8088, /readiness, OpenAPI spec</a:t>
            </a:r>
            <a:endParaRPr lang="en-US" sz="1200" dirty="0"/>
          </a:p>
        </p:txBody>
      </p:sp>
      <p:sp>
        <p:nvSpPr>
          <p:cNvPr id="6" name="layer1"/>
          <p:cNvSpPr/>
          <p:nvPr/>
        </p:nvSpPr>
        <p:spPr>
          <a:xfrm>
            <a:off x="548640" y="2203704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F3C77F"/>
          </a:solidFill>
          <a:ln w="12700">
            <a:solidFill>
              <a:srgbClr val="F3C7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27685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Service layer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27685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app/gcubed_service.py: input validation, baseline query, shock experiments, JSON output</a:t>
            </a:r>
            <a:endParaRPr lang="en-US" sz="1200" dirty="0"/>
          </a:p>
        </p:txBody>
      </p:sp>
      <p:sp>
        <p:nvSpPr>
          <p:cNvPr id="9" name="layer2"/>
          <p:cNvSpPr/>
          <p:nvPr/>
        </p:nvSpPr>
        <p:spPr>
          <a:xfrm>
            <a:off x="548640" y="2990088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2A8C8C"/>
          </a:solidFill>
          <a:ln w="12700">
            <a:solidFill>
              <a:srgbClr val="2A8C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Solved model cache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063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solved_model.joblib created by prepare.py during docker build</a:t>
            </a:r>
            <a:endParaRPr lang="en-US" sz="1200" dirty="0"/>
          </a:p>
        </p:txBody>
      </p:sp>
      <p:sp>
        <p:nvSpPr>
          <p:cNvPr id="12" name="layer3"/>
          <p:cNvSpPr/>
          <p:nvPr/>
        </p:nvSpPr>
        <p:spPr>
          <a:xfrm>
            <a:off x="548640" y="3776472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7FB3B3"/>
          </a:solidFill>
          <a:ln w="12700">
            <a:solidFill>
              <a:srgbClr val="7FB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49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G-Cubed model 2R/199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84962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model_configuration.yaml, data/*.csv, SYM-generated model_2R_199.py</a:t>
            </a:r>
            <a:endParaRPr lang="en-US" sz="1200" dirty="0"/>
          </a:p>
        </p:txBody>
      </p:sp>
      <p:sp>
        <p:nvSpPr>
          <p:cNvPr id="15" name="layer4"/>
          <p:cNvSpPr/>
          <p:nvPr/>
        </p:nvSpPr>
        <p:spPr>
          <a:xfrm>
            <a:off x="548640" y="4562856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B9D3D3"/>
          </a:solidFill>
          <a:ln w="12700">
            <a:solidFill>
              <a:srgbClr val="B9D3D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636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gcubed 5.0.1.4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63600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McKibbin Software Group package (byte-compiled), numpy, pandas, scipy</a:t>
            </a:r>
            <a:endParaRPr lang="en-US" sz="1200" dirty="0"/>
          </a:p>
        </p:txBody>
      </p:sp>
      <p:sp>
        <p:nvSpPr>
          <p:cNvPr id="18" name="layer5"/>
          <p:cNvSpPr/>
          <p:nvPr/>
        </p:nvSpPr>
        <p:spPr>
          <a:xfrm>
            <a:off x="548640" y="5349240"/>
            <a:ext cx="6766560" cy="694944"/>
          </a:xfrm>
          <a:prstGeom prst="roundRect">
            <a:avLst>
              <a:gd name="adj" fmla="val 15789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4223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5"/>
                </a:solidFill>
              </a:rPr>
              <a:t>python:3.14.5-slim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42239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2A35"/>
                </a:solidFill>
              </a:rPr>
              <a:t>the wheel requires exactly CPython 3.14.5 · linux/amd64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63840" y="146304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4716" y="1613916"/>
            <a:ext cx="384048" cy="38404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686800" y="1554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solve at build time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233172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A broken model fails the build, before anything reaches Azure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Cold starts only load the cached solution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E2A35"/>
                </a:solidFill>
              </a:rPr>
              <a:t>Each image is tied to a model commit, so results can be reproduced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API: JSON inputs, JSON projections</a:t>
            </a:r>
            <a:endParaRPr lang="en-US" sz="3200" dirty="0"/>
          </a:p>
        </p:txBody>
      </p:sp>
      <p:sp>
        <p:nvSpPr>
          <p:cNvPr id="3" name="request"/>
          <p:cNvSpPr/>
          <p:nvPr/>
        </p:nvSpPr>
        <p:spPr>
          <a:xfrm>
            <a:off x="54864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0E2A35"/>
          </a:solidFill>
          <a:ln w="12700">
            <a:solidFill>
              <a:srgbClr val="0E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B2D"/>
                </a:solidFill>
              </a:rPr>
              <a:t>Request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"run",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"variables": ["GDPR", "INFL", "INTN"],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"first_year": 2023,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"last_year": 2035,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"shocks": [{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"variable": "INFX(USA)",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"value": 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"start_year": 2024,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"end_year": 2030          // optional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560"/>
                </a:solidFill>
              </a:rPr>
              <a:t>action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79222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run (default) · describe · health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359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560"/>
                </a:solidFill>
              </a:rPr>
              <a:t>variables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6883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full names GDPR(USA) or prefixes GDPR (all regions)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25526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560"/>
                </a:solidFill>
              </a:rPr>
              <a:t>first_year / last_year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window of years returned (2023–2100)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15137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560"/>
                </a:solidFill>
              </a:rPr>
              <a:t>shocks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4805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exogenous paths, e.g. inflation target INFX, tax and spending variables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04748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5560"/>
                </a:solidFill>
              </a:rPr>
              <a:t>response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53766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baseline, experiment, deviation_from_baseline, units, descriptions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 call: USA inflation target +1 percentage point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41732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52704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+1.23pp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E2A35"/>
                </a:solidFill>
              </a:rPr>
              <a:t>peak inflation deviation (2025), converging to +1pp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7863840" y="292608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303580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+1.17pp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657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E2A35"/>
                </a:solidFill>
              </a:rPr>
              <a:t>policy interest rate response at peak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7863840" y="4434840"/>
            <a:ext cx="3749040" cy="1325880"/>
          </a:xfrm>
          <a:prstGeom prst="roundRect">
            <a:avLst>
              <a:gd name="adj" fmla="val 8276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92440" y="454456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5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+191bn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5166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E2A35"/>
                </a:solidFill>
              </a:rPr>
              <a:t>US real GDP above baseline in 2024 (US$), fading after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F66"/>
                </a:solidFill>
              </a:rPr>
              <a:t>Output of examples/inflation-target-shock.json from the container API: 0.4s per call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Proof: running on Microsoft Foundry today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resources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Resource group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591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rg-gcubed-foundry · Australia East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249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Foundry resource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809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gcubed-foundry-oicwmmodcn6e2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467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Foundry project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027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gcubed-project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684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24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gcubed-model · 1 vCPU / 2 GiB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902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Registry image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46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gcubed-model-api:f48db8b-maa262b5-4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8C8C"/>
                </a:solidFill>
              </a:rPr>
              <a:t>Pipeline identity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4681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id-github-foundry-pipeline (managed identity)</a:t>
            </a:r>
            <a:endParaRPr lang="en-US" sz="1400" dirty="0"/>
          </a:p>
        </p:txBody>
      </p:sp>
      <p:sp>
        <p:nvSpPr>
          <p:cNvPr id="17" name="verify"/>
          <p:cNvSpPr/>
          <p:nvPr/>
        </p:nvSpPr>
        <p:spPr>
          <a:xfrm>
            <a:off x="61264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0E2A35"/>
          </a:solidFill>
          <a:ln w="12700">
            <a:solidFill>
              <a:srgbClr val="0E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B2D"/>
                </a:solidFill>
              </a:rPr>
              <a:t>Independent check from Azure Cloud Shell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0574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rest --method POST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 https://ai.azure.com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--url "$EP/agents/gcubed-model/endpoint/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protocols/invocations?api-version=v1"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--body '{"shocks":[{"variable":"INFX(USA)",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F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"value":1,"start_year":2024}], ...}'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977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B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INFL(USA) deviation  0.000  1.026  1.234  1.184  1.105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B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INTN(USA) deviation  0.000  1.077  1.173  1.132  1.075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B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"secs": 0.352       real 0m7.2s (incl. CLI auth)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50292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Same numbers as the local run on slide 8: the Foundry deployment reproduces the model exactly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we hit along the way, and how the code handles it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88823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MFA security defaults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A fresh tenant blocks Entra (Graph) calls from a local Azure CLI. Setup runs in Azure Cloud Shell and uses a managed identity, so no app registration is needed.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6" y="188823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ID-based OIDC subjects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1546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GitHub sent repo:Bozmonster@5046023/foundry-pipeline@1415161671:… as the subject. The bootstrap registers both subject formats.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916" y="188823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Python pin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1546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The gcubed wheel requires CPython 3.14.5 exactly, so the base image is pinned to python:3.14.5-slim.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Identity and security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87817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556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secrets anywhere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GitHub Actions signs in with OIDC to a user-assigned managed identity. Its federated credentials trust only Bozmonster/foundry-pipeline (environment azure, branch main).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338" y="187817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7556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Least-privilege roles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402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id-github-foundry-pipeline holds Contributor, RBAC Administrator, Azure AI Project Manager and Azure AI User on rg-gcubed-foundry only.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416417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40416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Authenticated 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5262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Callers present an Entra token for ai.azure.com and need Azure AI User. Local (key) auth is disabled on the Foundry resource.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72200" y="3749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6EFEF"/>
          </a:solidFill>
          <a:ln w="12700">
            <a:solidFill>
              <a:srgbClr val="E6EF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46520" y="402336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338" y="416417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0" y="40416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pull by identity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0" y="45262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E2A35"/>
                </a:solidFill>
              </a:rPr>
              <a:t>The Foundry project's managed identity has AcrPull on the registry. The registry has no admin user.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Cost and day-to-day operation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5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Billing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5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Idle cost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5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Azure Container Registry (Basic)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Fixed daily rate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≈ US$5 / month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Foundry resource + project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Pay per use (no model deployments)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US$0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Hosted agent (1 vCPU, 2 GiB)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CPU + memory during active sessions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US$0 after 15 min idle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GitHub Actions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Public repo minutes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US$0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Application Insights (if enabled)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Per GB ingested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E2A35"/>
                          </a:solidFill>
                        </a:rPr>
                        <a:t>Minimal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55280" y="1508760"/>
            <a:ext cx="640080" cy="640080"/>
          </a:xfrm>
          <a:prstGeom prst="ellipse">
            <a:avLst/>
          </a:prstGeom>
          <a:solidFill>
            <a:srgbClr val="0F5560"/>
          </a:solidFill>
          <a:ln w="12700">
            <a:solidFill>
              <a:srgbClr val="0F556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6098" y="1649578"/>
            <a:ext cx="358445" cy="3584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7782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2A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Operating it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955280" y="233172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E2A35"/>
                </a:solidFill>
              </a:rPr>
              <a:t>New model build: update the fork, then run the workflow with model_ref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E2A35"/>
                </a:solidFill>
              </a:rPr>
              <a:t>New gcubed version: set the gcubed_tag input and the matching Python in the Dockerfile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E2A35"/>
                </a:solidFill>
              </a:rPr>
              <a:t>Roll back: point the agent endpoint at an earlier version (versions are immutable)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E2A35"/>
                </a:solidFill>
              </a:rPr>
              <a:t>Tear down: delete resource group rg-gcubed-foundry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F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Next steps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FEF"/>
                </a:solidFill>
              </a:rPr>
              <a:t>Expose the remaining 2R/199 simulation designs as named presets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FEF"/>
                </a:solidFill>
              </a:rPr>
              <a:t>Return the HTML chart reports from gcubed alongside the JSON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FEF"/>
                </a:solidFill>
              </a:rPr>
              <a:t>Add a front end or Foundry agent that calls the model as a tool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FEF"/>
                </a:solidFill>
              </a:rPr>
              <a:t>Confirm licensing terms for gcubed with McKibbin Software Group before wider use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749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Cubed Foundry">
  <a:themeElements>
    <a:clrScheme name="GCubed Foundry">
      <a:dk1>
        <a:srgbClr val="0E2A35"/>
      </a:dk1>
      <a:lt1>
        <a:srgbClr val="FFFFFF"/>
      </a:lt1>
      <a:dk2>
        <a:srgbClr val="0F5560"/>
      </a:dk2>
      <a:lt2>
        <a:srgbClr val="E6EFEF"/>
      </a:lt2>
      <a:accent1>
        <a:srgbClr val="0F5560"/>
      </a:accent1>
      <a:accent2>
        <a:srgbClr val="E89B2D"/>
      </a:accent2>
      <a:accent3>
        <a:srgbClr val="2A8C8C"/>
      </a:accent3>
      <a:accent4>
        <a:srgbClr val="4A5F66"/>
      </a:accent4>
      <a:accent5>
        <a:srgbClr val="7FB3B3"/>
      </a:accent5>
      <a:accent6>
        <a:srgbClr val="B5562E"/>
      </a:accent6>
      <a:hlink>
        <a:srgbClr val="2A8C8C"/>
      </a:hlink>
      <a:folHlink>
        <a:srgbClr val="4A5F66"/>
      </a:folHlink>
    </a:clrScheme>
    <a:fontScheme name="GCubed Found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G-Cubed on Microsoft Foundry</dc:title>
  <dc:subject>PptxGenJS Presentation</dc:subject>
  <dc:creator>Bozmonster</dc:creator>
  <cp:lastModifiedBy>Bozmonster</cp:lastModifiedBy>
  <cp:revision>1</cp:revision>
  <dcterms:created xsi:type="dcterms:W3CDTF">2026-10-12T07:40:41Z</dcterms:created>
  <dcterms:modified xsi:type="dcterms:W3CDTF">2026-10-12T07:40:41Z</dcterms:modified>
</cp:coreProperties>
</file>